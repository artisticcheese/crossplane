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69" r:id="rId15"/>
    <p:sldId id="259" r:id="rId5"/>
    <p:sldId id="260" r:id="rId6"/>
    <p:sldId id="261" r:id="rId7"/>
    <p:sldId id="262" r:id="rId8"/>
    <p:sldId id="263" r:id="rId9"/>
    <p:sldId id="265" r:id="rId11"/>
    <p:sldId id="266" r:id="rId12"/>
    <p:sldId id="267" r:id="rId13"/>
    <p:sldId id="268" r:id="rId14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5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914400"/>
            <a:ext cx="3931920" cy="3931920"/>
          </a:xfrm>
          <a:prstGeom prst="roundRect">
            <a:avLst>
              <a:gd name="adj" fmla="val 8140"/>
            </a:avLst>
          </a:prstGeom>
          <a:solidFill>
            <a:srgbClr val="0F2A4A"/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595360" y="1371600"/>
            <a:ext cx="3017520" cy="3017520"/>
          </a:xfrm>
          <a:prstGeom prst="roundRect">
            <a:avLst>
              <a:gd name="adj" fmla="val 9091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52560" y="1828800"/>
            <a:ext cx="2103120" cy="2103120"/>
          </a:xfrm>
          <a:prstGeom prst="roundRect">
            <a:avLst>
              <a:gd name="adj" fmla="val 10870"/>
            </a:avLst>
          </a:prstGeom>
          <a:solidFill>
            <a:srgbClr val="0B1E3D"/>
          </a:solidFill>
          <a:ln w="254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052560" y="182880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CROSSPLANE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i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Another IaC Tool You Did Not Know You Need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" y="31089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with Terraform and cloud-native frameworks (Bicep / ARM) — featuring Crossplane v2's namespaced resource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20640"/>
            <a:ext cx="2194560" cy="0"/>
          </a:xfrm>
          <a:prstGeom prst="line">
            <a:avLst/>
          </a:prstGeom>
          <a:noFill/>
          <a:ln w="254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" y="5257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Suvalian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5257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Platform &amp; Infrastructure Engineering</a:t>
            </a:r>
            <a:endParaRPr lang="en-US" sz="1300" dirty="0"/>
          </a:p>
        </p:txBody>
      </p:sp>
      <p:pic>
        <p:nvPicPr>
          <p:cNvPr id="12" name="Image 0" descr="icons/face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806440"/>
            <a:ext cx="292608" cy="292608"/>
          </a:xfrm>
          <a:prstGeom prst="rect">
            <a:avLst/>
          </a:prstGeom>
        </p:spPr>
      </p:pic>
      <p:pic>
        <p:nvPicPr>
          <p:cNvPr id="13" name="Image 1" descr="icons/twi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5806440"/>
            <a:ext cx="292608" cy="292608"/>
          </a:xfrm>
          <a:prstGeom prst="rect">
            <a:avLst/>
          </a:prstGeom>
        </p:spPr>
      </p:pic>
      <p:pic>
        <p:nvPicPr>
          <p:cNvPr id="14" name="Image 2" descr="icons/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5806440"/>
            <a:ext cx="292608" cy="292608"/>
          </a:xfrm>
          <a:prstGeom prst="rect">
            <a:avLst/>
          </a:prstGeom>
        </p:spPr>
      </p:pic>
      <p:pic>
        <p:nvPicPr>
          <p:cNvPr id="15" name="Image 3" descr="icons/telegr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5806440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432304" y="57607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@artisticcheese</a:t>
            </a:r>
            <a:endParaRPr lang="en-US" sz="1300" dirty="0"/>
          </a:p>
        </p:txBody>
      </p:sp>
      <p:pic>
        <p:nvPicPr>
          <p:cNvPr id="17" name="Image 4" descr="icons/envelop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2504" y="5806440"/>
            <a:ext cx="292608" cy="29260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453128" y="5760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artisticcheese@gmail.com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9235440" y="4892040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20" name="Text 13"/>
          <p:cNvSpPr/>
          <p:nvPr/>
        </p:nvSpPr>
        <p:spPr>
          <a:xfrm>
            <a:off x="9235440" y="496519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the repo</a:t>
            </a:r>
            <a:endParaRPr lang="en-US" sz="850" dirty="0"/>
          </a:p>
        </p:txBody>
      </p:sp>
      <p:pic>
        <p:nvPicPr>
          <p:cNvPr id="21" name="Image 5" descr="icons/qrco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521208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3716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Crossplane?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as a universal control plane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2677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54480" y="2267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Resources, Compositions &amp; Namespaced XRs (v2)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072384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316382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adopt 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&amp; self-service IaC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405993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554480" y="40599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Bicep/ARM &amp; Crossplane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43799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IaC landscape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629400" y="13716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13716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&amp; when to use which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066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and decision guide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2176272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29400" y="22677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406640" y="2267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onboard Azure, deploy real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3072384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629400" y="316382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0664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key takeaways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06640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watch for, and where to start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Crossplane?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open-source, CNCF-graduated framework that turns Kubernetes into a universal control plane for cloud infrastructure.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0195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901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0370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K8s API with Custom Resources for cloud infrastructure (VMs, databases, networks) instead of application workloads.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22783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for AWS, Azure, GCP, and 100+ services plug into the same control plane and reconciliation model.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50208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3950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922776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25196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control-loop model actively drives infrastructure toward desired state — not a one-shot apply.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74336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49743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494690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APIs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527608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build custom, higher-level APIs (Compositions) that hide cloud complexity from developers.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35240" y="1874520"/>
            <a:ext cx="4023360" cy="4114800"/>
          </a:xfrm>
          <a:prstGeom prst="roundRect">
            <a:avLst>
              <a:gd name="adj" fmla="val 2727"/>
            </a:avLst>
          </a:prstGeom>
          <a:solidFill>
            <a:srgbClr val="0B1E3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0956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Control-Plane Stack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09560" y="260604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092440" y="26791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92440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/ Namespaced XRs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09560" y="342900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92440" y="35021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92440" y="3813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Platform-defined APIs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9560" y="425196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92440" y="4325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92440" y="46360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Azure / GCP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909560" y="507492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27497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92440" y="51480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Resources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92440" y="5458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VPC, DB, IAM, Storage…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Managed Resources: No Compositions</a:t>
            </a:r>
            <a:endParaRPr lang="en-US" sz="3200" dirty="0"/>
          </a:p>
        </p:txBody>
      </p:sp>
      <p:sp>
        <p:nvSpPr>
          <p:cNvPr id="3" name="Subtitle"/>
          <p:cNvSpPr/>
          <p:nvPr/>
        </p:nvSpPr>
        <p:spPr>
          <a:xfrm>
            <a:off x="54864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path: apply a Managed Resource straight to a Provider — no Composition or XR involved.</a:t>
            </a:r>
            <a:endParaRPr lang="en-US" sz="1350" dirty="0"/>
          </a:p>
        </p:txBody>
      </p:sp>
      <p:sp>
        <p:nvSpPr>
          <p:cNvPr id="4" name="Box1 container"/>
          <p:cNvSpPr/>
          <p:nvPr/>
        </p:nvSpPr>
        <p:spPr>
          <a:xfrm>
            <a:off x="2025396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5" name="Box1 badge bg"/>
          <p:cNvSpPr/>
          <p:nvPr/>
        </p:nvSpPr>
        <p:spPr>
          <a:xfrm>
            <a:off x="2253996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6" name="Box1 badge num"/>
          <p:cNvSpPr/>
          <p:nvPr/>
        </p:nvSpPr>
        <p:spPr>
          <a:xfrm>
            <a:off x="2253996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Box1 title"/>
          <p:cNvSpPr/>
          <p:nvPr/>
        </p:nvSpPr>
        <p:spPr>
          <a:xfrm>
            <a:off x="2253996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Resource</a:t>
            </a:r>
            <a:endParaRPr lang="en-US" sz="1450" dirty="0"/>
          </a:p>
        </p:txBody>
      </p:sp>
      <p:sp>
        <p:nvSpPr>
          <p:cNvPr id="8" name="Box1 body"/>
          <p:cNvSpPr/>
          <p:nvPr/>
        </p:nvSpPr>
        <p:spPr>
          <a:xfrm>
            <a:off x="2253996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or platform engineer applies it directly — one YAML manifest for a single cloud object, e.g. an Azure Storage Account.</a:t>
            </a:r>
            <a:endParaRPr lang="en-US" sz="1050" dirty="0"/>
          </a:p>
        </p:txBody>
      </p:sp>
      <p:sp>
        <p:nvSpPr>
          <p:cNvPr id="9" name="Arrow1"/>
          <p:cNvSpPr/>
          <p:nvPr/>
        </p:nvSpPr>
        <p:spPr>
          <a:xfrm>
            <a:off x="4722876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Box2 container"/>
          <p:cNvSpPr/>
          <p:nvPr/>
        </p:nvSpPr>
        <p:spPr>
          <a:xfrm>
            <a:off x="4978908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1" name="Box2 badge bg"/>
          <p:cNvSpPr/>
          <p:nvPr/>
        </p:nvSpPr>
        <p:spPr>
          <a:xfrm>
            <a:off x="5207508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Box2 badge num"/>
          <p:cNvSpPr/>
          <p:nvPr/>
        </p:nvSpPr>
        <p:spPr>
          <a:xfrm>
            <a:off x="520750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Box2 title"/>
          <p:cNvSpPr/>
          <p:nvPr/>
        </p:nvSpPr>
        <p:spPr>
          <a:xfrm>
            <a:off x="5207508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</a:t>
            </a:r>
            <a:endParaRPr lang="en-US" sz="1450" dirty="0"/>
          </a:p>
        </p:txBody>
      </p:sp>
      <p:sp>
        <p:nvSpPr>
          <p:cNvPr id="14" name="Box2 body"/>
          <p:cNvSpPr/>
          <p:nvPr/>
        </p:nvSpPr>
        <p:spPr>
          <a:xfrm>
            <a:off x="5207508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installed as a CRD in the cluster — reconciles this Managed Resource continuously against the live cloud API to match its spec.</a:t>
            </a:r>
            <a:endParaRPr lang="en-US" sz="1050" dirty="0"/>
          </a:p>
        </p:txBody>
      </p:sp>
      <p:sp>
        <p:nvSpPr>
          <p:cNvPr id="15" name="Arrow2"/>
          <p:cNvSpPr/>
          <p:nvPr/>
        </p:nvSpPr>
        <p:spPr>
          <a:xfrm>
            <a:off x="7676388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Box3 container"/>
          <p:cNvSpPr/>
          <p:nvPr/>
        </p:nvSpPr>
        <p:spPr>
          <a:xfrm>
            <a:off x="7932420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0E8C74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17" name="Box3 badge bg"/>
          <p:cNvSpPr/>
          <p:nvPr/>
        </p:nvSpPr>
        <p:spPr>
          <a:xfrm>
            <a:off x="816102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18" name="Box3 badge num"/>
          <p:cNvSpPr/>
          <p:nvPr/>
        </p:nvSpPr>
        <p:spPr>
          <a:xfrm>
            <a:off x="81610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Box3 title"/>
          <p:cNvSpPr/>
          <p:nvPr/>
        </p:nvSpPr>
        <p:spPr>
          <a:xfrm>
            <a:off x="8161020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Resource</a:t>
            </a:r>
            <a:endParaRPr lang="en-US" sz="1450" dirty="0"/>
          </a:p>
        </p:txBody>
      </p:sp>
      <p:sp>
        <p:nvSpPr>
          <p:cNvPr id="20" name="Box3 body"/>
          <p:cNvSpPr/>
          <p:nvPr/>
        </p:nvSpPr>
        <p:spPr>
          <a:xfrm>
            <a:off x="8161020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object created and continuously reconciled — no Composition, no XR, no extra abstraction layer in between.</a:t>
            </a:r>
            <a:endParaRPr lang="en-US" sz="1050" dirty="0"/>
          </a:p>
        </p:txBody>
      </p:sp>
      <p:sp>
        <p:nvSpPr>
          <p:cNvPr id="21" name="Note bar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294B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22" name="Note label"/>
          <p:cNvSpPr/>
          <p:nvPr/>
        </p:nvSpPr>
        <p:spPr>
          <a:xfrm>
            <a:off x="822960" y="5349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</a:t>
            </a:r>
            <a:endParaRPr lang="en-US" sz="1200" dirty="0"/>
          </a:p>
        </p:txBody>
      </p:sp>
      <p:sp>
        <p:nvSpPr>
          <p:cNvPr id="23" name="Note body"/>
          <p:cNvSpPr/>
          <p:nvPr/>
        </p:nvSpPr>
        <p:spPr>
          <a:xfrm>
            <a:off x="2331720" y="5349240"/>
            <a:ext cx="9006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today — it's exactly what Demo 1 does. But every dependency must be wired by hand, and developers need to know the cloud schema. Compositions &amp; XRs (next) remove both.</a:t>
            </a:r>
            <a:endParaRPr lang="en-US" sz="1200" dirty="0"/>
          </a:p>
        </p:txBody>
      </p:sp>
      <p:sp>
        <p:nvSpPr>
          <p:cNvPr id="24" name="Footer title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25" name="Footer page number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XRs &amp; XRDs?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Resources can be applied directly — here's what wrapping them in an XR buys you instead.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3500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API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6974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ask for “a private storage stack,” not the handful of cloud resources it takes to build one.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61688" y="16002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62856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62856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62856" y="23500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wiring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62856" y="26974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team owns every selector and dependency; consumers can't misconfigure them.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74736" y="16002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75904" y="18013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75904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75904" y="23500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object, one lifecycle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75904" y="26974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XR is the single source of truth — delete it and everything underneath goes with it.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5387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49808" y="37398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9808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42885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across teams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49808" y="46360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Composition serves every namespace that creates the same kind of XR.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61688" y="35387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562856" y="37398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4A6C9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62856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62856" y="42885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Upgradeable independently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62856" y="46360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Composition's implementation (a new Function, a new resource) — consumer YAML never changes.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74736" y="35387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375904" y="37398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E8C7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375904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375904" y="42885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in v2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375904" y="46360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get their own XR instances, scoped and RBAC'd like any other namespaced object — no Claim needed.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Crossplane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team defines the API once; developers create XRs that use it.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2573886" cy="224028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3108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21166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XRs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4114800"/>
            <a:ext cx="21166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creates an XR — an instance of the kind the XRD defines, e.g. “give me a production database.” They author no XRD and no Composition.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22526" y="38176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378758" y="2926080"/>
            <a:ext cx="2573886" cy="224028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07358" y="3108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60735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07358" y="3657600"/>
            <a:ext cx="21166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Resources (MRs)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607358" y="4114800"/>
            <a:ext cx="21166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from the XR by the matching Composition. The lowest-level CRDs — a single storage account or Azure SQL DB — reconciled against live cloud state.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52644" y="38176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208876" y="2926080"/>
            <a:ext cx="2573886" cy="224028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B7FA6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437476" y="3108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37476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37476" y="3657600"/>
            <a:ext cx="21166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37476" y="4114800"/>
            <a:ext cx="21166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cloud APIs (AWS, Azure, GCP) as CRDs into the cluster. Each managed resource maps 1:1 to a real cloud object.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294B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22960" y="5349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v2: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331720" y="5349240"/>
            <a:ext cx="9006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Resources can now be namespaced and requested directly — the separate Claim object from v1 is no longer needed.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2" name="Shape 32 (Cloud Resource)"/>
          <p:cNvSpPr/>
          <p:nvPr/>
        </p:nvSpPr>
        <p:spPr>
          <a:xfrm>
            <a:off x="9038994" y="2926080"/>
            <a:ext cx="2573886" cy="2240280"/>
          </a:xfrm>
          <a:prstGeom prst="roundRect">
            <a:avLst>
              <a:gd name="adj" fmla="val 3390"/>
            </a:avLst>
          </a:prstGeom>
          <a:solidFill>
            <a:srgbClr val="0E8C74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33" name="Shape 33"/>
          <p:cNvSpPr/>
          <p:nvPr/>
        </p:nvSpPr>
        <p:spPr>
          <a:xfrm>
            <a:off x="9267594" y="3108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34" name="Text 33"/>
          <p:cNvSpPr/>
          <p:nvPr/>
        </p:nvSpPr>
        <p:spPr>
          <a:xfrm>
            <a:off x="9267594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2000" dirty="0"/>
          </a:p>
        </p:txBody>
      </p:sp>
      <p:sp>
        <p:nvSpPr>
          <p:cNvPr id="35" name="Text 34"/>
          <p:cNvSpPr/>
          <p:nvPr/>
        </p:nvSpPr>
        <p:spPr>
          <a:xfrm>
            <a:off x="9267594" y="3657600"/>
            <a:ext cx="21166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Resource</a:t>
            </a:r>
            <a:endParaRPr lang="en-US" sz="1450" dirty="0"/>
          </a:p>
        </p:txBody>
      </p:sp>
      <p:sp>
        <p:nvSpPr>
          <p:cNvPr id="36" name="Text 35"/>
          <p:cNvSpPr/>
          <p:nvPr/>
        </p:nvSpPr>
        <p:spPr>
          <a:xfrm>
            <a:off x="9267594" y="4114800"/>
            <a:ext cx="21166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VM, database, storage account, or network object in AWS, Azure, or GCP — what the Provider actually created and keeps in sync.</a:t>
            </a:r>
            <a:endParaRPr lang="en-US" sz="1050" dirty="0"/>
          </a:p>
        </p:txBody>
      </p:sp>
      <p:sp>
        <p:nvSpPr>
          <p:cNvPr id="37" name="Text 36"/>
          <p:cNvSpPr/>
          <p:nvPr/>
        </p:nvSpPr>
        <p:spPr>
          <a:xfrm>
            <a:off x="8782762" y="38176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0" name="Band A bar"/>
          <p:cNvSpPr/>
          <p:nvPr/>
        </p:nvSpPr>
        <p:spPr>
          <a:xfrm>
            <a:off x="548640" y="1737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3294B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51" name="Band A label"/>
          <p:cNvSpPr/>
          <p:nvPr/>
        </p:nvSpPr>
        <p:spPr>
          <a:xfrm>
            <a:off x="822960" y="1737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 authors:</a:t>
            </a:r>
            <a:endParaRPr lang="en-US" sz="1200" dirty="0"/>
          </a:p>
        </p:txBody>
      </p:sp>
      <p:sp>
        <p:nvSpPr>
          <p:cNvPr id="52" name="Band A body"/>
          <p:cNvSpPr/>
          <p:nvPr/>
        </p:nvSpPr>
        <p:spPr>
          <a:xfrm>
            <a:off x="3017520" y="17373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XRD defines the API — its kind and schema. The Composition is the template that renders that API into Managed Resources. Developers create neither; an XR simply uses them.</a:t>
            </a:r>
            <a:endParaRPr lang="en-US" sz="1200" dirty="0"/>
          </a:p>
        </p:txBody>
      </p:sp>
      <p:sp>
        <p:nvSpPr>
          <p:cNvPr id="53" name="Uses arrow"/>
          <p:cNvSpPr/>
          <p:nvPr/>
        </p:nvSpPr>
        <p:spPr>
          <a:xfrm>
            <a:off x="3122626" y="25603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Enterprises Are Adopting Crossplane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49808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49808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Golden-path APIs let app teams self-serve infra without becoming cloud experts.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61688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62856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62856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2856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GitOps-native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62856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a Kubernetes object — it fits directly into Flux / Argo CD pipelines already used for apps.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74736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375904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375904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75904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consistency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75904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 and one API surface across AWS, Azure, GCP, and on-prem.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49808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correction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9808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 actively repairs infrastructure drift, not just detects it on the next run.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61688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562856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4A6C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62856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62856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state backend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62856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lives as etcd objects in the cluster already run for workloads — no separate state store to secure.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74736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375904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375904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375904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at the API layer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75904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RBAC, admission control, and OPA/Kyverno apply to infra the same way they do to apps.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IaC Landscape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operating models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5B7FA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7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IaC via a purpose-built DSL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4672" y="336499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33272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/ run model — plan &amp; apply on demand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4672" y="418795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33272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stored in a .tfstate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501091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33272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ecosystem covers 3,000+ APIs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81144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Bicep / ARM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81144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 IaC, first-party tooling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81144" y="336499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09744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deployment via the Azure RM engine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81144" y="418795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09744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tracked by Azure itself — no state file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81144" y="501091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9744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compiles 1:1 to ARM JSON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1584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357616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Crossplane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57616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as a universal control plane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357616" y="336499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586216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control-loop — continuous reconciliation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57616" y="418795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86216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namespaced XRs, requested directly — no Claims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57616" y="501091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86216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providers + custom Compositions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vs. Bicep/ARM vs. Crossplane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solidFill>
            <a:srgbClr val="0B1E3D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67512" y="13258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5351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7959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/ ARM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0567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" y="18745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scope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295351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(3,000+ providers)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587959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only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880567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(AWS/Azure/GCP)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67512" y="242316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model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295351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apply (CLI or CI)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587959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ARM deployment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80567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 loop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67512" y="297180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295351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state file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587959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Azure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80567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API objects (etcd)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67512" y="352044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handling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295351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next plan/apply</a:t>
            </a:r>
            <a:endParaRPr lang="en-US" sz="970" dirty="0"/>
          </a:p>
        </p:txBody>
      </p:sp>
      <p:sp>
        <p:nvSpPr>
          <p:cNvPr id="27" name="Text 25"/>
          <p:cNvSpPr/>
          <p:nvPr/>
        </p:nvSpPr>
        <p:spPr>
          <a:xfrm>
            <a:off x="587959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what-if &amp; re-deploy</a:t>
            </a:r>
            <a:endParaRPr lang="en-US" sz="970" dirty="0"/>
          </a:p>
        </p:txBody>
      </p:sp>
      <p:sp>
        <p:nvSpPr>
          <p:cNvPr id="28" name="Text 26"/>
          <p:cNvSpPr/>
          <p:nvPr/>
        </p:nvSpPr>
        <p:spPr>
          <a:xfrm>
            <a:off x="880567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— self-heals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67512" y="40690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295351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endParaRPr lang="en-US" sz="970" dirty="0"/>
          </a:p>
        </p:txBody>
      </p:sp>
      <p:sp>
        <p:nvSpPr>
          <p:cNvPr id="32" name="Text 30"/>
          <p:cNvSpPr/>
          <p:nvPr/>
        </p:nvSpPr>
        <p:spPr>
          <a:xfrm>
            <a:off x="587959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DSL / ARM JSON</a:t>
            </a:r>
            <a:endParaRPr lang="en-US" sz="970" dirty="0"/>
          </a:p>
        </p:txBody>
      </p:sp>
      <p:sp>
        <p:nvSpPr>
          <p:cNvPr id="33" name="Text 31"/>
          <p:cNvSpPr/>
          <p:nvPr/>
        </p:nvSpPr>
        <p:spPr>
          <a:xfrm>
            <a:off x="880567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YAML/CRDs + Compositions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7512" y="46177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abstraction</a:t>
            </a:r>
            <a:endParaRPr lang="en-US" sz="970" dirty="0"/>
          </a:p>
        </p:txBody>
      </p:sp>
      <p:sp>
        <p:nvSpPr>
          <p:cNvPr id="36" name="Text 34"/>
          <p:cNvSpPr/>
          <p:nvPr/>
        </p:nvSpPr>
        <p:spPr>
          <a:xfrm>
            <a:off x="295351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70" dirty="0"/>
          </a:p>
        </p:txBody>
      </p:sp>
      <p:sp>
        <p:nvSpPr>
          <p:cNvPr id="37" name="Text 35"/>
          <p:cNvSpPr/>
          <p:nvPr/>
        </p:nvSpPr>
        <p:spPr>
          <a:xfrm>
            <a:off x="587959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(reusable Bicep files)</a:t>
            </a:r>
            <a:endParaRPr lang="en-US" sz="970" dirty="0"/>
          </a:p>
        </p:txBody>
      </p:sp>
      <p:sp>
        <p:nvSpPr>
          <p:cNvPr id="38" name="Text 36"/>
          <p:cNvSpPr/>
          <p:nvPr/>
        </p:nvSpPr>
        <p:spPr>
          <a:xfrm>
            <a:off x="880567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 + Namespaced XRs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7512" y="516636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 devs</a:t>
            </a:r>
            <a:endParaRPr lang="en-US" sz="970" dirty="0"/>
          </a:p>
        </p:txBody>
      </p:sp>
      <p:sp>
        <p:nvSpPr>
          <p:cNvPr id="41" name="Text 39"/>
          <p:cNvSpPr/>
          <p:nvPr/>
        </p:nvSpPr>
        <p:spPr>
          <a:xfrm>
            <a:off x="295351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TF knowledge</a:t>
            </a:r>
            <a:endParaRPr lang="en-US" sz="970" dirty="0"/>
          </a:p>
        </p:txBody>
      </p:sp>
      <p:sp>
        <p:nvSpPr>
          <p:cNvPr id="42" name="Text 40"/>
          <p:cNvSpPr/>
          <p:nvPr/>
        </p:nvSpPr>
        <p:spPr>
          <a:xfrm>
            <a:off x="587959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Azure/Bicep knowledge</a:t>
            </a:r>
            <a:endParaRPr lang="en-US" sz="970" dirty="0"/>
          </a:p>
        </p:txBody>
      </p:sp>
      <p:sp>
        <p:nvSpPr>
          <p:cNvPr id="43" name="Text 41"/>
          <p:cNvSpPr/>
          <p:nvPr/>
        </p:nvSpPr>
        <p:spPr>
          <a:xfrm>
            <a:off x="880567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— namespaced XRs, RBAC-scoped</a:t>
            </a:r>
            <a:endParaRPr lang="en-US" sz="970" dirty="0"/>
          </a:p>
        </p:txBody>
      </p:sp>
      <p:sp>
        <p:nvSpPr>
          <p:cNvPr id="44" name="Shape 42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67512" y="571500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</a:t>
            </a:r>
            <a:endParaRPr lang="en-US" sz="970" dirty="0"/>
          </a:p>
        </p:txBody>
      </p:sp>
      <p:sp>
        <p:nvSpPr>
          <p:cNvPr id="46" name="Text 44"/>
          <p:cNvSpPr/>
          <p:nvPr/>
        </p:nvSpPr>
        <p:spPr>
          <a:xfrm>
            <a:off x="295351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mature (10+ yrs)</a:t>
            </a:r>
            <a:endParaRPr lang="en-US" sz="970" dirty="0"/>
          </a:p>
        </p:txBody>
      </p:sp>
      <p:sp>
        <p:nvSpPr>
          <p:cNvPr id="47" name="Text 45"/>
          <p:cNvSpPr/>
          <p:nvPr/>
        </p:nvSpPr>
        <p:spPr>
          <a:xfrm>
            <a:off x="587959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Azure-native</a:t>
            </a:r>
            <a:endParaRPr lang="en-US" sz="970" dirty="0"/>
          </a:p>
        </p:txBody>
      </p:sp>
      <p:sp>
        <p:nvSpPr>
          <p:cNvPr id="48" name="Text 46"/>
          <p:cNvSpPr/>
          <p:nvPr/>
        </p:nvSpPr>
        <p:spPr>
          <a:xfrm>
            <a:off x="880567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CNCF Graduated (2025)</a:t>
            </a:r>
            <a:endParaRPr lang="en-US" sz="97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Tool, and When?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AF1F8"/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Terraform when…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4712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Day-0 bootstrap of foundational infra (networks, accounts, org structure)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24712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widest possible provider coverage, incl. SaaS &amp; niche APIs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24712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changes are infrequent, reviewed via a human-gated pipeline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25112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AF1EF"/>
          </a:solidFill>
          <a:ln w="1905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53712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6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Bicep/ARM when…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53712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53712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01184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an Azure-only shop wanting first-party, fully-supported tooling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53712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53712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01184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deep integration with Azure Policy, Blueprints &amp; RBAC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53712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53712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01184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You'd rather not manage a separate state backend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01584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9F9F5"/>
          </a:solidFill>
          <a:ln w="19050">
            <a:solidFill>
              <a:srgbClr val="0E8C7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30184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Crossplane when…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30184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330184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77656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building a self-service internal developer platform (IDP)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30184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330184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77656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infra managed alongside Kubernetes workloads (GitOps)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30184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330184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77656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continuous drift correction without a scheduled job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Installing Crossplane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Helm install brings up the control plane inside any Kubernetes cluster.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807208"/>
          </a:xfrm>
          <a:prstGeom prst="roundRect">
            <a:avLst>
              <a:gd name="adj" fmla="val 2606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49808" y="171907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20299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the Crossplane Helm repo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2448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add crossplane-stable \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597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https://charts.crossplane.io/stable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6746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update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8895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10438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into its own namespace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31927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 crossplane \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353415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crossplane-stable/crossplane \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374904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--namespace crossplane-system \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396392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--create-namespace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554480"/>
            <a:ext cx="5394960" cy="1732788"/>
          </a:xfrm>
          <a:prstGeom prst="roundRect">
            <a:avLst>
              <a:gd name="adj" fmla="val 4222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19088" y="171907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19088" y="20299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E3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 -n crossplane-system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22448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19088" y="24597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                  READY  STATUS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9088" y="26746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crossplane-7d9f6c9b5c-x2k9p    1/1   Running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19088" y="28895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crossplane-rbac-manager-8f6d7  1/1   Running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49808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core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XRD &amp; Composition controllers that power every custom API.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25112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26280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Manager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Auto-provisions the namespaced permissions each new API needs.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01584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302752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Manager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02752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and upgrades Providers and Functions as cluster packages.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Onboarding the Azure Provider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support ships as per-service provider packages — install only the ones you need.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49808" y="167335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98424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pkg.crossplane.io/v1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19913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Provider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1401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62890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provider-azure-storage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84378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0586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package: &gt;-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2735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xpkg.upbound.io/upbound/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34884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provider-azure-storage:v2.7.1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508760"/>
            <a:ext cx="5394960" cy="3022092"/>
          </a:xfrm>
          <a:prstGeom prst="roundRect">
            <a:avLst>
              <a:gd name="adj" fmla="val 2421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19088" y="167335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providerconfig.yaml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9088" y="198424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azure.m.upbound.io/v1beta1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9088" y="219913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ClusterProviderConfig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241401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262890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default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19088" y="284378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9088" y="30586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19088" y="32735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source: Secret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19088" y="34884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secretRef: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19088" y="37033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namespace: crossplane-system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19088" y="39182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azure-creds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19088" y="413308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key: creds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AF1F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22960" y="56235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17320" y="56235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removes the need for a long-lived Service Principal secret entirely when running in AKS.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Your First Resources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namespaced Managed Resource from the v2 .m. API group, applied directly — no Claim required.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126480" cy="4690872"/>
          </a:xfrm>
          <a:prstGeom prst="roundRect">
            <a:avLst>
              <a:gd name="adj" fmla="val 1559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49808" y="167335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98424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azure.m.upbound.io/v1beta1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9808" y="217627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ResourceGroup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236829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56032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demo-rg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275234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94436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" y="313639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forProvider: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location: westeurope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52044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371246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storage.azure.m.upbound.io/v1beta1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" y="390448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Account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49808" y="409651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" y="428853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demosa001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448056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9808" y="467258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49808" y="486460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forProvider: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505663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location: westeurope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49808" y="524865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accountTier: Standard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9808" y="544068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accountReplicationType: LRS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49808" y="563270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resourceGroupNameSelector: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9808" y="582472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matchControllerRef: true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40880" y="1508760"/>
            <a:ext cx="4480560" cy="118872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269480" y="1600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team-a  ·  Managed Resources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0" y="1920240"/>
            <a:ext cx="3931920" cy="320040"/>
          </a:xfrm>
          <a:prstGeom prst="roundRect">
            <a:avLst>
              <a:gd name="adj" fmla="val 10000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315200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ResourceGroup  ·  demo-rg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35240" y="2286000"/>
            <a:ext cx="3611880" cy="320040"/>
          </a:xfrm>
          <a:prstGeom prst="roundRect">
            <a:avLst>
              <a:gd name="adj" fmla="val 10000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635240" y="22860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 ·  demosa001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8239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040880" y="3063240"/>
            <a:ext cx="4480560" cy="1188720"/>
          </a:xfrm>
          <a:prstGeom prst="roundRect">
            <a:avLst>
              <a:gd name="adj" fmla="val 11111"/>
            </a:avLst>
          </a:prstGeom>
          <a:solidFill>
            <a:srgbClr val="0B1E3D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269480" y="31318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040880" y="4457700"/>
            <a:ext cx="4480560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269480" y="45948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it like any other Kubernetes object: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269480" y="49606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resources.yaml -n team-a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269480" y="53263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reconciles both objects continuously — delete either and it's recreated to match spec.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0" name="Azure RG bg"/>
          <p:cNvSpPr/>
          <p:nvPr/>
        </p:nvSpPr>
        <p:spPr>
          <a:xfrm>
            <a:off x="7315200" y="3474720"/>
            <a:ext cx="3931920" cy="320040"/>
          </a:xfrm>
          <a:prstGeom prst="roundRect">
            <a:avLst>
              <a:gd name="adj" fmla="val 10000"/>
            </a:avLst>
          </a:prstGeom>
          <a:solidFill>
            <a:srgbClr val="3E6B99"/>
          </a:solidFill>
          <a:ln/>
        </p:spPr>
        <p:txBody>
          <a:bodyPr/>
          <a:p/>
        </p:txBody>
      </p:sp>
      <p:sp>
        <p:nvSpPr>
          <p:cNvPr id="61" name="Azure RG text"/>
          <p:cNvSpPr/>
          <p:nvPr/>
        </p:nvSpPr>
        <p:spPr>
          <a:xfrm>
            <a:off x="7315200" y="3474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 ·  demo-rg</a:t>
            </a:r>
            <a:endParaRPr lang="en-US" sz="1050" dirty="0"/>
          </a:p>
        </p:txBody>
      </p:sp>
      <p:sp>
        <p:nvSpPr>
          <p:cNvPr id="62" name="Azure SA bg"/>
          <p:cNvSpPr/>
          <p:nvPr/>
        </p:nvSpPr>
        <p:spPr>
          <a:xfrm>
            <a:off x="7635240" y="3840480"/>
            <a:ext cx="3611880" cy="320040"/>
          </a:xfrm>
          <a:prstGeom prst="roundRect">
            <a:avLst>
              <a:gd name="adj" fmla="val 10000"/>
            </a:avLst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63" name="Azure SA text"/>
          <p:cNvSpPr/>
          <p:nvPr/>
        </p:nvSpPr>
        <p:spPr>
          <a:xfrm>
            <a:off x="7635240" y="3840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account  ·  demosa001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A More Involved Deployment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namespaced XR, one Composition Function pipeline — wiring 7 Azure resources into a single apply.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6400800" cy="4590288"/>
          </a:xfrm>
          <a:prstGeom prst="roundRect">
            <a:avLst>
              <a:gd name="adj" fmla="val 1594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49808" y="1399032"/>
            <a:ext cx="5998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709928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apiextensions.crossplane.io/v1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9808" y="1874520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Composition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2039112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private-storage-azure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49808" y="2368296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49808" y="2532888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compositeTypeRef: {kind: XPrivateStorage}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49808" y="2697480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mode: Pipeline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9808" y="2862072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pipeline: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49808" y="3026664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step: compose-resources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9808" y="3191256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functionRef: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9808" y="3355848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name: function-patch-and-transform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9808" y="3520440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input: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49808" y="3685032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kind: Resources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" y="3849624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resources: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- name: vnet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49808" y="4178808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base: {kind: VirtualNetwork}  # network.azure.m.upbound.io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9808" y="4343400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- name: subnet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49808" y="4507992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base: {kind: Subnet, spec: {forProvider: {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9808" y="4672584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virtualNetworkNameSelector: {matchControllerRef: true}}}}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9808" y="4837176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- name: endpoint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9808" y="5001768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base: {kind: PrivateEndpoint, spec: {forProvider: {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" y="5166360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subnetIdSelector: {matchControllerRef: true}}}}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9808" y="5330952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resourceGroup, storage, dnsZone, vnetLink: same pattern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49808" y="5495544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step: auto-ready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9808" y="5660136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functionRef: {name: function-auto-ready}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23760" y="1325880"/>
            <a:ext cx="4416552" cy="2029968"/>
          </a:xfrm>
          <a:prstGeom prst="roundRect">
            <a:avLst>
              <a:gd name="adj" fmla="val 3922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424928" y="1453896"/>
            <a:ext cx="4014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by the developer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424928" y="1764792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mycompany.com/v1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424928" y="1929384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XPrivateStorage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424928" y="2093976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24928" y="2258568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team-a-storage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424928" y="2423160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424928" y="2587752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424928" y="2752344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location: westeurope</a:t>
            </a:r>
            <a:endParaRPr lang="en-US" sz="950" dirty="0"/>
          </a:p>
        </p:txBody>
      </p:sp>
      <p:sp>
        <p:nvSpPr>
          <p:cNvPr id="45" name="Text 37"/>
          <p:cNvSpPr/>
          <p:nvPr/>
        </p:nvSpPr>
        <p:spPr>
          <a:xfrm>
            <a:off x="7424928" y="2916936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storageAccountName: demosa2001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424928" y="3081528"/>
            <a:ext cx="4014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environment: Production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223760" y="3584448"/>
            <a:ext cx="4416552" cy="2679192"/>
          </a:xfrm>
          <a:prstGeom prst="roundRect">
            <a:avLst>
              <a:gd name="adj" fmla="val 3215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452360" y="3767328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pick the intent.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owns the implementation.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452360" y="4361688"/>
            <a:ext cx="395935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fields reach in from the consumer: location, storageAccountName, and an environment picked off a list. Everything else — Standard/LRS, the closed public endpoint, the address space, the retention period — is decided once in the Composition. There is no XRD field through which a team could ask for anything else, and the API server refuses unknown fields rather than ignoring them.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Considerations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444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overhead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846320" y="14447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running &amp; maintaining a Kubernetes cluster as critical infrastructure — not a trivial dependency to add.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3591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 gap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46320" y="23591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providers and less community content than Terraform's decade-long head start; some APIs lag behind cloud releases.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2735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32735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must think in Kubernetes reconciliation and CRDs, a mental model unfamiliar to traditional infra engineers.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complexity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46320" y="41879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Compositions (functions, patch-and-transform) can become as intricate as the Terraform modules they replace.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51023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&amp; debugging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46320" y="51023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spans kubectl, controller logs, and cloud consoles — less mature UX than `terraform plan` diffs.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097280"/>
            <a:ext cx="3749040" cy="3749040"/>
          </a:xfrm>
          <a:prstGeom prst="roundRect">
            <a:avLst>
              <a:gd name="adj" fmla="val 8537"/>
            </a:avLst>
          </a:prstGeom>
          <a:solidFill>
            <a:srgbClr val="0F2A4A"/>
          </a:solidFill>
          <a:ln w="19050">
            <a:solidFill>
              <a:srgbClr val="5FD0C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0" y="1097280"/>
            <a:ext cx="3749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36245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isn't a Terraform or Bicep replacement — it's a platform layer that turns provisioned infra into self-service, Kubernetes-native APIs.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32257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Terraform / Bicep for broad, one-shot, human-gated provisioning — especially Day-0 foundational infra.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8269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Crossplane when building an internal developer platform that needs continuous reconciliation and GitOps-native workflows.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424281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enterprise pattern combines both: foundational IaC underneath, Crossplane as the developer-facing layer on top.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Yet Another IaaC Tool You Did Not Know You Need</dc:title>
  <dc:subject>PptxGenJS Presentation</dc:subject>
  <dc:creator>Gregory Suvalian</dc:creator>
  <cp:lastModifiedBy>Gregory Suvalian</cp:lastModifiedBy>
  <cp:revision>1</cp:revision>
  <dcterms:created xsi:type="dcterms:W3CDTF">2026-08-22T23:21:41Z</dcterms:created>
  <dcterms:modified xsi:type="dcterms:W3CDTF">2026-08-22T23:21:41Z</dcterms:modified>
</cp:coreProperties>
</file>