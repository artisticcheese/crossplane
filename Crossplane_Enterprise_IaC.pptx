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914400"/>
            <a:ext cx="3931920" cy="3931920"/>
          </a:xfrm>
          <a:prstGeom prst="roundRect">
            <a:avLst>
              <a:gd name="adj" fmla="val 8140"/>
            </a:avLst>
          </a:prstGeom>
          <a:solidFill>
            <a:srgbClr val="0F2A4A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1371600"/>
            <a:ext cx="3017520" cy="3017520"/>
          </a:xfrm>
          <a:prstGeom prst="roundRect">
            <a:avLst>
              <a:gd name="adj" fmla="val 9091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1828800"/>
            <a:ext cx="2103120" cy="2103120"/>
          </a:xfrm>
          <a:prstGeom prst="roundRect">
            <a:avLst>
              <a:gd name="adj" fmla="val 10870"/>
            </a:avLst>
          </a:prstGeom>
          <a:solidFill>
            <a:srgbClr val="0B1E3D"/>
          </a:solidFill>
          <a:ln w="25400">
            <a:solidFill>
              <a:srgbClr val="5FD0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0" y="18288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Another IaaC Tool You Did Not Know You Need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" y="31089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with Terraform and cloud-native frameworks (Bicep / ARM) — featuring Crossplane v2's namespaced resource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20640"/>
            <a:ext cx="2194560" cy="0"/>
          </a:xfrm>
          <a:prstGeom prst="line">
            <a:avLst/>
          </a:prstGeom>
          <a:noFill/>
          <a:ln w="25400">
            <a:solidFill>
              <a:srgbClr val="5FD0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5257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Suvalian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5257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Platform &amp; Infrastructure Engineering</a:t>
            </a:r>
            <a:endParaRPr lang="en-US" sz="1300" dirty="0"/>
          </a:p>
        </p:txBody>
      </p:sp>
      <p:pic>
        <p:nvPicPr>
          <p:cNvPr id="12" name="Image 0" descr="icons/face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806440"/>
            <a:ext cx="292608" cy="292608"/>
          </a:xfrm>
          <a:prstGeom prst="rect">
            <a:avLst/>
          </a:prstGeom>
        </p:spPr>
      </p:pic>
      <p:pic>
        <p:nvPicPr>
          <p:cNvPr id="13" name="Image 1" descr="icons/twi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5806440"/>
            <a:ext cx="292608" cy="292608"/>
          </a:xfrm>
          <a:prstGeom prst="rect">
            <a:avLst/>
          </a:prstGeom>
        </p:spPr>
      </p:pic>
      <p:pic>
        <p:nvPicPr>
          <p:cNvPr id="14" name="Image 2" descr="icons/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5806440"/>
            <a:ext cx="292608" cy="292608"/>
          </a:xfrm>
          <a:prstGeom prst="rect">
            <a:avLst/>
          </a:prstGeom>
        </p:spPr>
      </p:pic>
      <p:pic>
        <p:nvPicPr>
          <p:cNvPr id="15" name="Image 3" descr="icons/telegr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5806440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432304" y="57607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@artisticcheese</a:t>
            </a:r>
            <a:endParaRPr lang="en-US" sz="1300" dirty="0"/>
          </a:p>
        </p:txBody>
      </p:sp>
      <p:pic>
        <p:nvPicPr>
          <p:cNvPr id="17" name="Image 4" descr="icons/envelop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2504" y="5806440"/>
            <a:ext cx="292608" cy="2926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453128" y="5760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artisticcheese@gmail.com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9235440" y="4892040"/>
            <a:ext cx="17373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9235440" y="496519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repo</a:t>
            </a:r>
            <a:endParaRPr lang="en-US" sz="850" dirty="0"/>
          </a:p>
        </p:txBody>
      </p:sp>
      <p:pic>
        <p:nvPicPr>
          <p:cNvPr id="21" name="Image 5" descr="icons/qrcod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0" y="521208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Crossplane?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5448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Providers, Compositions &amp; Namespaced XRs (v2)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adopt 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&amp; self-service IaC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05993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554480" y="40599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Bicep/ARM &amp; Crossplane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4379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IaC landscape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2940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&amp; when to use which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066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and decision guide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2940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40664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onboard Azure, deploy real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2940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0664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patterns &amp; recommendations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tool wins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Crossplane?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open-source, CNCF-graduated framework that turns Kubernetes into a universal control plane for cloud infrastructure.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0195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0370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K8s API with Custom Resources for cloud infrastructure (VMs, databases, networks) instead of application workloads.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22783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for AWS, Azure, GCP, and 100+ services plug into the same control plane and reconciliation model.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50208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950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922776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25196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control-loop model actively drives infrastructure toward desired state — not a one-shot apply.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74336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974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494690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APIs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527608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build custom, higher-level APIs (Compositions) that hide cloud complexity from developers.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35240" y="187452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0B1E3D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Control-Plane Stack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09560" y="260604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5FD0C0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26791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92440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/ Namespaced XRs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09560" y="342900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35021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92440" y="3813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Platform-defined APIs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9560" y="425196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3E6B99"/>
          </a:solidFill>
          <a:ln/>
        </p:spPr>
      </p:sp>
      <p:sp>
        <p:nvSpPr>
          <p:cNvPr id="29" name="Text 27"/>
          <p:cNvSpPr/>
          <p:nvPr/>
        </p:nvSpPr>
        <p:spPr>
          <a:xfrm>
            <a:off x="8092440" y="4325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92440" y="46360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Azure / GCP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09560" y="507492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274972"/>
          </a:solidFill>
          <a:ln/>
        </p:spPr>
      </p:sp>
      <p:sp>
        <p:nvSpPr>
          <p:cNvPr id="32" name="Text 30"/>
          <p:cNvSpPr/>
          <p:nvPr/>
        </p:nvSpPr>
        <p:spPr>
          <a:xfrm>
            <a:off x="8092440" y="51480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92440" y="5458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VPC, DB, IAM, Storage…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Crossplane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building blocks turn raw cloud APIs into self-service platform APIs.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cloud APIs (AWS, Azure, GCP) as CRDs into the cluster. Each managed resource maps 1:1 to a real cloud object.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46120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02152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30752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30752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Resources (MRs)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30752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lowest-level CRDs — e.g. a single S3 bucket or Azure SQL DB — reconciled continuously against the live cloud state.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9632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55664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3E6B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84264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B99"/>
          </a:solidFill>
          <a:ln/>
        </p:spPr>
      </p:sp>
      <p:sp>
        <p:nvSpPr>
          <p:cNvPr id="18" name="Text 16"/>
          <p:cNvSpPr/>
          <p:nvPr/>
        </p:nvSpPr>
        <p:spPr>
          <a:xfrm>
            <a:off x="668426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84264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(XRDs)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84264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author reusable templates that combine many MRs into one opinionated, higher-level API.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09176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37776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24" name="Text 22"/>
          <p:cNvSpPr/>
          <p:nvPr/>
        </p:nvSpPr>
        <p:spPr>
          <a:xfrm>
            <a:off x="9637776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37776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XRs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637776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request infrastructure directly by creating a namespaced Composite Resource — e.g. “give me a production database” — without touching cloud detail.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94B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349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v2: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31720" y="5349240"/>
            <a:ext cx="9006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Resources can now be namespaced and requested directly — the separate Claim object from v1 is no longer needed.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Enterprises Are Adopting Crossplane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Golden-path APIs let app teams self-serve infra without becoming cloud experts.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61688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2856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FD0C0"/>
          </a:solidFill>
          <a:ln/>
        </p:spPr>
      </p:sp>
      <p:sp>
        <p:nvSpPr>
          <p:cNvPr id="10" name="Text 8"/>
          <p:cNvSpPr/>
          <p:nvPr/>
        </p:nvSpPr>
        <p:spPr>
          <a:xfrm>
            <a:off x="456285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2856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GitOps-native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62856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a Kubernetes object — it fits directly into Flux / Argo CD pipelines already used for apps.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74736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B99"/>
          </a:solidFill>
          <a:ln/>
        </p:spPr>
      </p:sp>
      <p:sp>
        <p:nvSpPr>
          <p:cNvPr id="15" name="Text 13"/>
          <p:cNvSpPr/>
          <p:nvPr/>
        </p:nvSpPr>
        <p:spPr>
          <a:xfrm>
            <a:off x="837590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75904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consistency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75904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 and one API surface across AWS, Azure, GCP, and on-prem.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9808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correction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9808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actively repairs infrastructure drift, not just detects it on the next run.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61688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2856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4A6C9"/>
          </a:solidFill>
          <a:ln/>
        </p:spPr>
      </p:sp>
      <p:sp>
        <p:nvSpPr>
          <p:cNvPr id="25" name="Text 23"/>
          <p:cNvSpPr/>
          <p:nvPr/>
        </p:nvSpPr>
        <p:spPr>
          <a:xfrm>
            <a:off x="4562856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state backend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62856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lives as etcd objects in the cluster already run for workloads — no separate state store to secure.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74736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5904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75904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at the API layer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75904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RBAC, admission control, and OPA/Kyverno apply to infra the same way they do to apps.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IaC Landscape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operating models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7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IaC via a purpose-built DSL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4672" y="336499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/ run model — plan &amp; apply on demand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4672" y="418795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stored in a .tfstate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501091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 covers 3,000+ APIs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1144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Bicep / ARM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81144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IaC, first-party tooling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81144" y="336499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809744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deployment via the Azure RM engine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81144" y="418795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tracked by Azure itself — no state file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81144" y="501091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compiles 1:1 to ARM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1584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57616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57616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357616" y="336499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26" name="Text 24"/>
          <p:cNvSpPr/>
          <p:nvPr/>
        </p:nvSpPr>
        <p:spPr>
          <a:xfrm>
            <a:off x="8586216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control-loop — continuous reconciliation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57616" y="418795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28" name="Text 26"/>
          <p:cNvSpPr/>
          <p:nvPr/>
        </p:nvSpPr>
        <p:spPr>
          <a:xfrm>
            <a:off x="8586216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namespaced XRs, requested directly — no Claims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57616" y="501091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30" name="Text 28"/>
          <p:cNvSpPr/>
          <p:nvPr/>
        </p:nvSpPr>
        <p:spPr>
          <a:xfrm>
            <a:off x="8586216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providers + custom Compositions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vs. Bicep/ARM vs. Crossplane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solidFill>
            <a:srgbClr val="0B1E3D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3258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5351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7959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/ ARM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0567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8745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scope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295351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(3,000+ providers)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587959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only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80567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(AWS/Azure/GCP)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24231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model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295351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apply (CLI or CI)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587959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ARM deployment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80567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loop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9718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295351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state file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587959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Azure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80567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API objects (etcd)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52044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handling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295351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next plan/apply</a:t>
            </a:r>
            <a:endParaRPr lang="en-US" sz="970" dirty="0"/>
          </a:p>
        </p:txBody>
      </p:sp>
      <p:sp>
        <p:nvSpPr>
          <p:cNvPr id="27" name="Text 25"/>
          <p:cNvSpPr/>
          <p:nvPr/>
        </p:nvSpPr>
        <p:spPr>
          <a:xfrm>
            <a:off x="587959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what-if &amp; re-deploy</a:t>
            </a:r>
            <a:endParaRPr lang="en-US" sz="970" dirty="0"/>
          </a:p>
        </p:txBody>
      </p:sp>
      <p:sp>
        <p:nvSpPr>
          <p:cNvPr id="28" name="Text 26"/>
          <p:cNvSpPr/>
          <p:nvPr/>
        </p:nvSpPr>
        <p:spPr>
          <a:xfrm>
            <a:off x="880567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— self-heals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40690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295351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endParaRPr lang="en-US" sz="970" dirty="0"/>
          </a:p>
        </p:txBody>
      </p:sp>
      <p:sp>
        <p:nvSpPr>
          <p:cNvPr id="32" name="Text 30"/>
          <p:cNvSpPr/>
          <p:nvPr/>
        </p:nvSpPr>
        <p:spPr>
          <a:xfrm>
            <a:off x="587959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DSL / ARM JSON</a:t>
            </a:r>
            <a:endParaRPr lang="en-US" sz="970" dirty="0"/>
          </a:p>
        </p:txBody>
      </p:sp>
      <p:sp>
        <p:nvSpPr>
          <p:cNvPr id="33" name="Text 31"/>
          <p:cNvSpPr/>
          <p:nvPr/>
        </p:nvSpPr>
        <p:spPr>
          <a:xfrm>
            <a:off x="880567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YAML/CRDs + Compositions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" y="46177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abstraction</a:t>
            </a:r>
            <a:endParaRPr lang="en-US" sz="970" dirty="0"/>
          </a:p>
        </p:txBody>
      </p:sp>
      <p:sp>
        <p:nvSpPr>
          <p:cNvPr id="36" name="Text 34"/>
          <p:cNvSpPr/>
          <p:nvPr/>
        </p:nvSpPr>
        <p:spPr>
          <a:xfrm>
            <a:off x="295351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70" dirty="0"/>
          </a:p>
        </p:txBody>
      </p:sp>
      <p:sp>
        <p:nvSpPr>
          <p:cNvPr id="37" name="Text 35"/>
          <p:cNvSpPr/>
          <p:nvPr/>
        </p:nvSpPr>
        <p:spPr>
          <a:xfrm>
            <a:off x="587959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(reusable Bicep files)</a:t>
            </a:r>
            <a:endParaRPr lang="en-US" sz="970" dirty="0"/>
          </a:p>
        </p:txBody>
      </p:sp>
      <p:sp>
        <p:nvSpPr>
          <p:cNvPr id="38" name="Text 36"/>
          <p:cNvSpPr/>
          <p:nvPr/>
        </p:nvSpPr>
        <p:spPr>
          <a:xfrm>
            <a:off x="880567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+ Namespaced XRs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" y="51663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devs</a:t>
            </a:r>
            <a:endParaRPr lang="en-US" sz="970" dirty="0"/>
          </a:p>
        </p:txBody>
      </p:sp>
      <p:sp>
        <p:nvSpPr>
          <p:cNvPr id="41" name="Text 39"/>
          <p:cNvSpPr/>
          <p:nvPr/>
        </p:nvSpPr>
        <p:spPr>
          <a:xfrm>
            <a:off x="295351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TF knowledge</a:t>
            </a:r>
            <a:endParaRPr lang="en-US" sz="970" dirty="0"/>
          </a:p>
        </p:txBody>
      </p:sp>
      <p:sp>
        <p:nvSpPr>
          <p:cNvPr id="42" name="Text 40"/>
          <p:cNvSpPr/>
          <p:nvPr/>
        </p:nvSpPr>
        <p:spPr>
          <a:xfrm>
            <a:off x="587959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Azure/Bicep knowledge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880567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— namespaced XRs, RBAC-scoped</a:t>
            </a:r>
            <a:endParaRPr lang="en-US" sz="970" dirty="0"/>
          </a:p>
        </p:txBody>
      </p:sp>
      <p:sp>
        <p:nvSpPr>
          <p:cNvPr id="44" name="Shape 42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" y="57150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</a:t>
            </a:r>
            <a:endParaRPr lang="en-US" sz="970" dirty="0"/>
          </a:p>
        </p:txBody>
      </p:sp>
      <p:sp>
        <p:nvSpPr>
          <p:cNvPr id="46" name="Text 44"/>
          <p:cNvSpPr/>
          <p:nvPr/>
        </p:nvSpPr>
        <p:spPr>
          <a:xfrm>
            <a:off x="295351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mature (10+ yrs)</a:t>
            </a:r>
            <a:endParaRPr lang="en-US" sz="970" dirty="0"/>
          </a:p>
        </p:txBody>
      </p:sp>
      <p:sp>
        <p:nvSpPr>
          <p:cNvPr id="47" name="Text 45"/>
          <p:cNvSpPr/>
          <p:nvPr/>
        </p:nvSpPr>
        <p:spPr>
          <a:xfrm>
            <a:off x="587959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Azure-native</a:t>
            </a:r>
            <a:endParaRPr lang="en-US" sz="970" dirty="0"/>
          </a:p>
        </p:txBody>
      </p:sp>
      <p:sp>
        <p:nvSpPr>
          <p:cNvPr id="48" name="Text 46"/>
          <p:cNvSpPr/>
          <p:nvPr/>
        </p:nvSpPr>
        <p:spPr>
          <a:xfrm>
            <a:off x="880567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fast (CNCF, 2024)</a:t>
            </a:r>
            <a:endParaRPr lang="en-US" sz="97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Tool, and When?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Terraform when…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4712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Day-0 bootstrap of foundational infra (networks, accounts, org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24712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widest possible provider coverage, incl. SaaS &amp; niche APIs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24712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changes are infrequent, reviewed via a human-gated pipeline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25112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EF"/>
          </a:solidFill>
          <a:ln w="19050">
            <a:solidFill>
              <a:srgbClr val="3E6B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6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Bicep/ARM when…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53712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01184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an Azure-only shop wanting first-party, fully-supported tooling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53712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20" name="Text 18"/>
          <p:cNvSpPr/>
          <p:nvPr/>
        </p:nvSpPr>
        <p:spPr>
          <a:xfrm>
            <a:off x="4553712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01184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deep integration with Azure Policy, Blueprints &amp; RBAC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53712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53712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01184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You'd rather not manage a separate state backend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01584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9F9F5"/>
          </a:solidFill>
          <a:ln w="19050">
            <a:solidFill>
              <a:srgbClr val="0E8C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0184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Crossplane when…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30184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28" name="Text 26"/>
          <p:cNvSpPr/>
          <p:nvPr/>
        </p:nvSpPr>
        <p:spPr>
          <a:xfrm>
            <a:off x="8330184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77656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building a self-service internal developer platform (IDP)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30184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31" name="Text 29"/>
          <p:cNvSpPr/>
          <p:nvPr/>
        </p:nvSpPr>
        <p:spPr>
          <a:xfrm>
            <a:off x="8330184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77656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infra managed alongside Kubernetes workloads (GitOps)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30184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34" name="Text 32"/>
          <p:cNvSpPr/>
          <p:nvPr/>
        </p:nvSpPr>
        <p:spPr>
          <a:xfrm>
            <a:off x="8330184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77656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continuous drift correction without a scheduled job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Trade-off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Bicep/ARM · Crossplane, scored across what enterprises actually care about.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reach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47472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505968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8" name="Shape 6"/>
          <p:cNvSpPr/>
          <p:nvPr/>
        </p:nvSpPr>
        <p:spPr>
          <a:xfrm>
            <a:off x="5059680" y="1901952"/>
            <a:ext cx="262128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9" name="Shape 7"/>
          <p:cNvSpPr/>
          <p:nvPr/>
        </p:nvSpPr>
        <p:spPr>
          <a:xfrm>
            <a:off x="664464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0" name="Shape 8"/>
          <p:cNvSpPr/>
          <p:nvPr/>
        </p:nvSpPr>
        <p:spPr>
          <a:xfrm>
            <a:off x="6644640" y="1901952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95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0" y="2468880"/>
            <a:ext cx="262128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505968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9680" y="2468880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64464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664464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6265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self-service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3474720" y="3035808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505968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9680" y="3035808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64464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4" name="Shape 22"/>
          <p:cNvSpPr/>
          <p:nvPr/>
        </p:nvSpPr>
        <p:spPr>
          <a:xfrm>
            <a:off x="664464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5295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7" name="Shape 25"/>
          <p:cNvSpPr/>
          <p:nvPr/>
        </p:nvSpPr>
        <p:spPr>
          <a:xfrm>
            <a:off x="347472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28" name="Shape 26"/>
          <p:cNvSpPr/>
          <p:nvPr/>
        </p:nvSpPr>
        <p:spPr>
          <a:xfrm>
            <a:off x="505968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9" name="Shape 27"/>
          <p:cNvSpPr/>
          <p:nvPr/>
        </p:nvSpPr>
        <p:spPr>
          <a:xfrm>
            <a:off x="5059680" y="3602736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4464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1" name="Shape 29"/>
          <p:cNvSpPr/>
          <p:nvPr/>
        </p:nvSpPr>
        <p:spPr>
          <a:xfrm>
            <a:off x="6644640" y="3602736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9651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/ GitOps fit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4" name="Shape 32"/>
          <p:cNvSpPr/>
          <p:nvPr/>
        </p:nvSpPr>
        <p:spPr>
          <a:xfrm>
            <a:off x="3474720" y="4169664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35" name="Shape 33"/>
          <p:cNvSpPr/>
          <p:nvPr/>
        </p:nvSpPr>
        <p:spPr>
          <a:xfrm>
            <a:off x="505968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59680" y="4169664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64464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8" name="Shape 36"/>
          <p:cNvSpPr/>
          <p:nvPr/>
        </p:nvSpPr>
        <p:spPr>
          <a:xfrm>
            <a:off x="664464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66344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 (lower=easier)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7472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1" name="Shape 39"/>
          <p:cNvSpPr/>
          <p:nvPr/>
        </p:nvSpPr>
        <p:spPr>
          <a:xfrm>
            <a:off x="3474720" y="4736592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42" name="Shape 40"/>
          <p:cNvSpPr/>
          <p:nvPr/>
        </p:nvSpPr>
        <p:spPr>
          <a:xfrm>
            <a:off x="505968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3" name="Shape 41"/>
          <p:cNvSpPr/>
          <p:nvPr/>
        </p:nvSpPr>
        <p:spPr>
          <a:xfrm>
            <a:off x="5059680" y="4736592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44" name="Shape 42"/>
          <p:cNvSpPr/>
          <p:nvPr/>
        </p:nvSpPr>
        <p:spPr>
          <a:xfrm>
            <a:off x="664464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5" name="Shape 43"/>
          <p:cNvSpPr/>
          <p:nvPr/>
        </p:nvSpPr>
        <p:spPr>
          <a:xfrm>
            <a:off x="6644640" y="4736592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46" name="Shape 44"/>
          <p:cNvSpPr/>
          <p:nvPr/>
        </p:nvSpPr>
        <p:spPr>
          <a:xfrm>
            <a:off x="347472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C7293"/>
          </a:solidFill>
          <a:ln/>
        </p:spPr>
      </p:sp>
      <p:sp>
        <p:nvSpPr>
          <p:cNvPr id="47" name="Text 45"/>
          <p:cNvSpPr/>
          <p:nvPr/>
        </p:nvSpPr>
        <p:spPr>
          <a:xfrm>
            <a:off x="369417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05968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B7FA6"/>
          </a:solidFill>
          <a:ln/>
        </p:spPr>
      </p:sp>
      <p:sp>
        <p:nvSpPr>
          <p:cNvPr id="49" name="Text 47"/>
          <p:cNvSpPr/>
          <p:nvPr/>
        </p:nvSpPr>
        <p:spPr>
          <a:xfrm>
            <a:off x="527913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Bicep/ARM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64464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FD0C0"/>
          </a:solidFill>
          <a:ln/>
        </p:spPr>
      </p:sp>
      <p:sp>
        <p:nvSpPr>
          <p:cNvPr id="51" name="Text 49"/>
          <p:cNvSpPr/>
          <p:nvPr/>
        </p:nvSpPr>
        <p:spPr>
          <a:xfrm>
            <a:off x="686409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Installing Crossplane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Helm install brings up the control plane inside any Kubernetes cluster.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807208"/>
          </a:xfrm>
          <a:prstGeom prst="roundRect">
            <a:avLst>
              <a:gd name="adj" fmla="val 2606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the Crossplane Helm repo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add crossplane-stable \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https://charts.crossplane.io/stable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update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1043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into its own namespace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31927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crossplane \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53415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crossplane-stable/crossplane \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374904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--namespace crossplane-system \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396392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--create-namespace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5394960" cy="1732788"/>
          </a:xfrm>
          <a:prstGeom prst="roundRect">
            <a:avLst>
              <a:gd name="adj" fmla="val 4222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1908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E3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-n crossplane-system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                  READY  STATUS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crossplane-7d9f6c9b5c-x2k9p    1/1   Running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crossplane-rbac-manager-8f6d7  1/1   Running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core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XRD &amp; Composition controllers that power every custom API.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25112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Manager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Auto-provisions the namespaced permissions each new API needs.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2752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Manager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02752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and upgrades Providers and Functions as cluster packages.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Onboarding the Azure Provider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v2 splits Azure support into per-service providers, installed as cluster packages.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pkg.crossplane.io/v1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Provider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provider-azure-storage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package: &gt;-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xpkg.upbound.io/upbound/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provider-azure-storage:v1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5394960" cy="3022092"/>
          </a:xfrm>
          <a:prstGeom prst="roundRect">
            <a:avLst>
              <a:gd name="adj" fmla="val 2421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providerconfig.yaml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908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azure.upbound.io/v1beta1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ProviderConfig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default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source: Secret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1908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secretRef: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19088" y="37033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namespace: crossplane-system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19088" y="39182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azure-creds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19088" y="41330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key: creds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AF1F8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623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17320" y="56235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removes the need for a long-lived Service Principal secret entirely when running in AKS.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Your First Resources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namespaced Managed Resource, applied directly — no Claim required (v2).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126480" cy="4690872"/>
          </a:xfrm>
          <a:prstGeom prst="roundRect">
            <a:avLst>
              <a:gd name="adj" fmla="val 1559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7335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azure.upbound.io/v1beta1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217627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ResourceGroup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236829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56032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demo-rg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75234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94436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" y="313639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52044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371246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storage.azure.upbound.io/v1beta1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" y="390448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Account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9808" y="409651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" y="428853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demosa001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448056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467258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9808" y="486460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505663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49808" y="524865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accountTier: Standard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9808" y="544068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accountReplicationType: LRS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49808" y="563270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resourceGroupNameSelector: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9808" y="582472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matchControllerRef: true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0" y="1508760"/>
            <a:ext cx="4480560" cy="18288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1645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team-a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0" y="2057400"/>
            <a:ext cx="2743200" cy="54864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ResourceGroup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49840" y="2057400"/>
            <a:ext cx="1097280" cy="548640"/>
          </a:xfrm>
          <a:prstGeom prst="roundRect">
            <a:avLst>
              <a:gd name="adj" fmla="val 10000"/>
            </a:avLst>
          </a:prstGeom>
          <a:solidFill>
            <a:srgbClr val="5FD0C0"/>
          </a:solidFill>
          <a:ln/>
        </p:spPr>
      </p:sp>
      <p:sp>
        <p:nvSpPr>
          <p:cNvPr id="32" name="Text 30"/>
          <p:cNvSpPr/>
          <p:nvPr/>
        </p:nvSpPr>
        <p:spPr>
          <a:xfrm>
            <a:off x="10149840" y="2057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82396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040880" y="3063240"/>
            <a:ext cx="4480560" cy="822960"/>
          </a:xfrm>
          <a:prstGeom prst="roundRect">
            <a:avLst>
              <a:gd name="adj" fmla="val 11111"/>
            </a:avLst>
          </a:prstGeom>
          <a:solidFill>
            <a:srgbClr val="0B1E3D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0" y="30632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040880" y="4160520"/>
            <a:ext cx="4480560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6948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it like any other Kubernetes object: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6948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resources.yaml -n team-a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69480" y="5029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reconciles both objects continuously — delete either and it's recreated to match spec.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A More Involved Deployment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storage account, private DNS zone, and a private endpoint — wired together with resource selectors.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5B7F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VirtualNetwork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4028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6032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5196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344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PrivateEndpoint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636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E8C74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Account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34940" y="28803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24612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33375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DNS Zone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 + ZoneGroup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5196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storage account's private FQDN to the endpoint's private IP inside the VNet.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915400" y="1920240"/>
            <a:ext cx="2724912" cy="3794760"/>
          </a:xfrm>
          <a:prstGeom prst="roundRect">
            <a:avLst>
              <a:gd name="adj" fmla="val 3356"/>
            </a:avLst>
          </a:prstGeom>
          <a:solidFill>
            <a:srgbClr val="F1F5F9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205740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involved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81160" y="246888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VirtualNetwork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098280" y="2564892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2898648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098280" y="2994660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9281160" y="3328416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098280" y="3424428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9281160" y="3758184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PrivateEndpoint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098280" y="3854196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9281160" y="41879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9098280" y="4283964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9281160" y="461772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PrivateDNSZoneVirtualNetworkLink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098280" y="4713732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8" name="Text 36"/>
          <p:cNvSpPr/>
          <p:nvPr/>
        </p:nvSpPr>
        <p:spPr>
          <a:xfrm>
            <a:off x="9281160" y="5047488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PrivateDNSZoneGroup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098280" y="5143500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9098280" y="5522976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namespaced — one team's network stack per namespace.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Enterprise Adoption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organizations run these tools together, not instead of one another.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3520440" cy="228600"/>
          </a:xfrm>
          <a:prstGeom prst="rect">
            <a:avLst/>
          </a:prstGeom>
          <a:solidFill>
            <a:srgbClr val="5B7FA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infra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/ Bicep provisions accounts, networks, IAM, and the Kubernetes clusters themselves.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9080" y="3063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1965960"/>
            <a:ext cx="3520440" cy="2286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2628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is installed onto those clusters; platform teams author Compositions exposing golden-path APIs.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0" y="3063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1965960"/>
            <a:ext cx="3520440" cy="22860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self-service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2104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teams submit namespaced XRs directly via GitOps; infra scales with the app lifecycle, drift self-heals.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8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120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148840" y="5120640"/>
            <a:ext cx="9189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doesn't replace Terraform or Bicep at Day 0 — it typically sits on top, turning what they provisioned into self-service platform APIs.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Considerations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44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overhead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846320" y="14447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running &amp; maintaining a Kubernetes cluster as critical infrastructure — not a trivial dependency to add.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591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 gap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46320" y="23591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providers and less community content than Terraform's decade-long head start; some APIs lag behind cloud releases.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735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32735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must think in Kubernetes reconciliation and CRDs, a mental model unfamiliar to traditional infra engineers.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complexity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46320" y="41879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Compositions (functions, patch-and-transform) can become as intricate as the Terraform modules they replace.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1023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&amp; debugging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46320" y="51023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spans kubectl, controller logs, and cloud consoles — less mature UX than `terraform plan` diffs.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097280"/>
            <a:ext cx="3749040" cy="3749040"/>
          </a:xfrm>
          <a:prstGeom prst="roundRect">
            <a:avLst>
              <a:gd name="adj" fmla="val 8537"/>
            </a:avLst>
          </a:prstGeom>
          <a:solidFill>
            <a:srgbClr val="0F2A4A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955280" y="1097280"/>
            <a:ext cx="3749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36245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isn't a Terraform or Bicep replacement — it's a platform layer that turns provisioned infra into self-service, Kubernetes-native APIs.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32257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Terraform / Bicep for broad, one-shot, human-gated provisioning — especially Day-0 foundational infra.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8269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Crossplane when building an internal developer platform that needs continuous reconciliation and GitOps-native workflows.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424281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enterprise pattern combines both: foundational IaC underneath, Crossplane as the developer-facing layer on top.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Yet Another IaaC Tool You Did Not Know You Need</dc:title>
  <dc:subject>PptxGenJS Presentation</dc:subject>
  <dc:creator>Gregory Suvalian</dc:creator>
  <cp:lastModifiedBy>Gregory Suvalian</cp:lastModifiedBy>
  <cp:revision>1</cp:revision>
  <dcterms:created xsi:type="dcterms:W3CDTF">2026-08-22T19:36:52Z</dcterms:created>
  <dcterms:modified xsi:type="dcterms:W3CDTF">2026-08-22T19:36:52Z</dcterms:modified>
</cp:coreProperties>
</file>