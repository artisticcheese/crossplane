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914400"/>
            <a:ext cx="3931920" cy="3931920"/>
          </a:xfrm>
          <a:prstGeom prst="roundRect">
            <a:avLst>
              <a:gd name="adj" fmla="val 8140"/>
            </a:avLst>
          </a:prstGeom>
          <a:solidFill>
            <a:srgbClr val="0F2A4A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0" y="1371600"/>
            <a:ext cx="3017520" cy="3017520"/>
          </a:xfrm>
          <a:prstGeom prst="roundRect">
            <a:avLst>
              <a:gd name="adj" fmla="val 9091"/>
            </a:avLst>
          </a:prstGeom>
          <a:solidFill>
            <a:srgbClr val="13294B"/>
          </a:solidFill>
          <a:ln w="19050">
            <a:solidFill>
              <a:srgbClr val="5FD0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52560" y="1828800"/>
            <a:ext cx="2103120" cy="2103120"/>
          </a:xfrm>
          <a:prstGeom prst="roundRect">
            <a:avLst>
              <a:gd name="adj" fmla="val 10870"/>
            </a:avLst>
          </a:prstGeom>
          <a:solidFill>
            <a:srgbClr val="0B1E3D"/>
          </a:solidFill>
          <a:ln w="25400">
            <a:solidFill>
              <a:srgbClr val="5FD0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52560" y="182880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XR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CROSSPLANE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58368" y="2514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i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Another IaaC Tool You Did Not Know You Need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58368" y="3108960"/>
            <a:ext cx="6949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comparison with Terraform and cloud-native frameworks (Bicep / ARM) — featuring Crossplane v2's namespaced resource model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" y="5120640"/>
            <a:ext cx="2194560" cy="0"/>
          </a:xfrm>
          <a:prstGeom prst="line">
            <a:avLst/>
          </a:prstGeom>
          <a:noFill/>
          <a:ln w="25400">
            <a:solidFill>
              <a:srgbClr val="5FD0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5257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Suvalian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12848" y="52578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Platform &amp; Infrastructure Engineering</a:t>
            </a:r>
            <a:endParaRPr lang="en-US" sz="1300" dirty="0"/>
          </a:p>
        </p:txBody>
      </p:sp>
      <p:pic>
        <p:nvPicPr>
          <p:cNvPr id="12" name="Image 0" descr="icons/face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806440"/>
            <a:ext cx="292608" cy="292608"/>
          </a:xfrm>
          <a:prstGeom prst="rect">
            <a:avLst/>
          </a:prstGeom>
        </p:spPr>
      </p:pic>
      <p:pic>
        <p:nvPicPr>
          <p:cNvPr id="13" name="Image 1" descr="icons/twi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5806440"/>
            <a:ext cx="292608" cy="292608"/>
          </a:xfrm>
          <a:prstGeom prst="rect">
            <a:avLst/>
          </a:prstGeom>
        </p:spPr>
      </p:pic>
      <p:pic>
        <p:nvPicPr>
          <p:cNvPr id="14" name="Image 2" descr="icons/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9616" y="5806440"/>
            <a:ext cx="292608" cy="292608"/>
          </a:xfrm>
          <a:prstGeom prst="rect">
            <a:avLst/>
          </a:prstGeom>
        </p:spPr>
      </p:pic>
      <p:pic>
        <p:nvPicPr>
          <p:cNvPr id="15" name="Image 3" descr="icons/telegra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0240" y="5806440"/>
            <a:ext cx="292608" cy="29260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2432304" y="57607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@artisticcheese</a:t>
            </a:r>
            <a:endParaRPr lang="en-US" sz="1300" dirty="0"/>
          </a:p>
        </p:txBody>
      </p:sp>
      <p:pic>
        <p:nvPicPr>
          <p:cNvPr id="17" name="Image 4" descr="icons/envelop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2504" y="5806440"/>
            <a:ext cx="292608" cy="29260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453128" y="57607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artisticcheese@gmail.com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3716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554480" y="13716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Crossplane?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54480" y="16916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as a universal control plane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176272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226771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554480" y="22677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258775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Providers, Compositions &amp; Namespaced XRs (v2)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072384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77240" y="316382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554480" y="31638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enterprises adopt it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348386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engineering &amp; self-service IaC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3968496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405993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554480" y="40599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Terraform, Bicep/ARM &amp; Crossplane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54480" y="437997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the IaC landscape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28016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629400" y="13716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7406640" y="137160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&amp; when to use which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406640" y="16916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Scorecard and decision guide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0800" y="2176272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629400" y="226771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406640" y="22677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06640" y="258775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Install, onboard Azure, deploy real infrastructure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0" y="3072384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629400" y="316382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406640" y="316382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patterns &amp; recommendations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06640" y="348386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tool wins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Crossplane?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open-source, CNCF-graduated framework that turns Kubernetes into a universal control plane for cloud infrastructure.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901952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9019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18745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Kubernetes-native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2203704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the K8s API with Custom Resources for cloud infrastructure (VMs, databases, networks) instead of application workloads.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ecosystem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43000" y="3227832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 for AWS, Azure, GCP, and 100+ services plug into the same control plane and reconciliation model.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950208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9502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3000" y="3922776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reconciliation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43000" y="425196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control-loop model actively drives infrastructure toward desired state — not a one-shot apply.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974336"/>
            <a:ext cx="411480" cy="4114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97433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43000" y="4946904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Composable APIs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43000" y="5276088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teams build custom, higher-level APIs (Compositions) that hide cloud complexity from developers.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635240" y="1874520"/>
            <a:ext cx="4023360" cy="4114800"/>
          </a:xfrm>
          <a:prstGeom prst="roundRect">
            <a:avLst>
              <a:gd name="adj" fmla="val 2727"/>
            </a:avLst>
          </a:prstGeom>
          <a:solidFill>
            <a:srgbClr val="0B1E3D"/>
          </a:solidFill>
          <a:ln/>
        </p:spPr>
      </p:sp>
      <p:sp>
        <p:nvSpPr>
          <p:cNvPr id="21" name="Text 19"/>
          <p:cNvSpPr/>
          <p:nvPr/>
        </p:nvSpPr>
        <p:spPr>
          <a:xfrm>
            <a:off x="7909560" y="2057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Control-Plane Stack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909560" y="2606040"/>
            <a:ext cx="3474720" cy="713232"/>
          </a:xfrm>
          <a:prstGeom prst="roundRect">
            <a:avLst>
              <a:gd name="adj" fmla="val 10256"/>
            </a:avLst>
          </a:prstGeom>
          <a:solidFill>
            <a:srgbClr val="5FD0C0"/>
          </a:solidFill>
          <a:ln/>
        </p:spPr>
      </p:sp>
      <p:sp>
        <p:nvSpPr>
          <p:cNvPr id="23" name="Text 21"/>
          <p:cNvSpPr/>
          <p:nvPr/>
        </p:nvSpPr>
        <p:spPr>
          <a:xfrm>
            <a:off x="8092440" y="26791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092440" y="29900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apply / Namespaced XRs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909560" y="3429000"/>
            <a:ext cx="3474720" cy="713232"/>
          </a:xfrm>
          <a:prstGeom prst="roundRect">
            <a:avLst>
              <a:gd name="adj" fmla="val 10256"/>
            </a:avLst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092440" y="35021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092440" y="38130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Platform-defined APIs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909560" y="4251960"/>
            <a:ext cx="3474720" cy="713232"/>
          </a:xfrm>
          <a:prstGeom prst="roundRect">
            <a:avLst>
              <a:gd name="adj" fmla="val 10256"/>
            </a:avLst>
          </a:prstGeom>
          <a:solidFill>
            <a:srgbClr val="3E6B99"/>
          </a:solidFill>
          <a:ln/>
        </p:spPr>
      </p:sp>
      <p:sp>
        <p:nvSpPr>
          <p:cNvPr id="29" name="Text 27"/>
          <p:cNvSpPr/>
          <p:nvPr/>
        </p:nvSpPr>
        <p:spPr>
          <a:xfrm>
            <a:off x="8092440" y="432511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092440" y="46360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Azure / GCP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909560" y="5074920"/>
            <a:ext cx="3474720" cy="713232"/>
          </a:xfrm>
          <a:prstGeom prst="roundRect">
            <a:avLst>
              <a:gd name="adj" fmla="val 10256"/>
            </a:avLst>
          </a:prstGeom>
          <a:solidFill>
            <a:srgbClr val="274972"/>
          </a:solidFill>
          <a:ln/>
        </p:spPr>
      </p:sp>
      <p:sp>
        <p:nvSpPr>
          <p:cNvPr id="32" name="Text 30"/>
          <p:cNvSpPr/>
          <p:nvPr/>
        </p:nvSpPr>
        <p:spPr>
          <a:xfrm>
            <a:off x="8092440" y="51480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Resources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092440" y="54589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VPC, DB, IAM, Storage…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Crossplane Works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building blocks turn raw cloud APIs into self-service platform APIs.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97480" cy="3337560"/>
          </a:xfrm>
          <a:prstGeom prst="roundRect">
            <a:avLst>
              <a:gd name="adj" fmla="val 3390"/>
            </a:avLst>
          </a:prstGeom>
          <a:solidFill>
            <a:srgbClr val="13294B"/>
          </a:solidFill>
          <a:ln w="19050">
            <a:solidFill>
              <a:srgbClr val="5FD0C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0312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5FD0C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7432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33375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cloud APIs (AWS, Azure, GCP) as CRDs into the cluster. Each managed resource maps 1:1 to a real cloud object.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246120" y="32689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502152" y="1828800"/>
            <a:ext cx="2697480" cy="3337560"/>
          </a:xfrm>
          <a:prstGeom prst="roundRect">
            <a:avLst>
              <a:gd name="adj" fmla="val 3390"/>
            </a:avLst>
          </a:prstGeom>
          <a:solidFill>
            <a:srgbClr val="13294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30752" y="210312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730752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730752" y="27432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Resources (MRs)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730752" y="33375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lowest-level CRDs — e.g. a single S3 bucket or Azure SQL DB — reconciled continuously against the live cloud state.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199632" y="32689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455664" y="1828800"/>
            <a:ext cx="2697480" cy="3337560"/>
          </a:xfrm>
          <a:prstGeom prst="roundRect">
            <a:avLst>
              <a:gd name="adj" fmla="val 3390"/>
            </a:avLst>
          </a:prstGeom>
          <a:solidFill>
            <a:srgbClr val="13294B"/>
          </a:solidFill>
          <a:ln w="19050">
            <a:solidFill>
              <a:srgbClr val="3E6B9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84264" y="210312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3E6B99"/>
          </a:solidFill>
          <a:ln/>
        </p:spPr>
      </p:sp>
      <p:sp>
        <p:nvSpPr>
          <p:cNvPr id="18" name="Text 16"/>
          <p:cNvSpPr/>
          <p:nvPr/>
        </p:nvSpPr>
        <p:spPr>
          <a:xfrm>
            <a:off x="6684264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684264" y="27432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Compositions (XRDs)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684264" y="33375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teams author reusable templates that combine many MRs into one opinionated, higher-level API.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153144" y="326898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409176" y="1828800"/>
            <a:ext cx="2697480" cy="3337560"/>
          </a:xfrm>
          <a:prstGeom prst="roundRect">
            <a:avLst>
              <a:gd name="adj" fmla="val 3390"/>
            </a:avLst>
          </a:prstGeom>
          <a:solidFill>
            <a:srgbClr val="13294B"/>
          </a:solidFill>
          <a:ln w="19050">
            <a:solidFill>
              <a:srgbClr val="5B7FA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37776" y="210312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5B7FA6"/>
          </a:solidFill>
          <a:ln/>
        </p:spPr>
      </p:sp>
      <p:sp>
        <p:nvSpPr>
          <p:cNvPr id="24" name="Text 22"/>
          <p:cNvSpPr/>
          <p:nvPr/>
        </p:nvSpPr>
        <p:spPr>
          <a:xfrm>
            <a:off x="9637776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37776" y="27432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Namespaced XRs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637776" y="33375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request infrastructure directly by creating a namespaced Composite Resource — e.g. “give me a production database” — without touching cloud detail.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48640" y="534924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13294B"/>
          </a:solidFill>
          <a:ln w="12700">
            <a:solidFill>
              <a:srgbClr val="5FD0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53492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v2: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331720" y="5349240"/>
            <a:ext cx="9006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Resources can now be namespaced and requested directly — the separate Claim object from v1 is no longer needed.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Enterprises Are Adopting Crossplane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49808" y="1572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49808" y="212140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Engineering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749808" y="2468880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Golden-path APIs let app teams self-serve infra without becoming cloud experts.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361688" y="1371600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62856" y="1572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FD0C0"/>
          </a:solidFill>
          <a:ln/>
        </p:spPr>
      </p:sp>
      <p:sp>
        <p:nvSpPr>
          <p:cNvPr id="10" name="Text 8"/>
          <p:cNvSpPr/>
          <p:nvPr/>
        </p:nvSpPr>
        <p:spPr>
          <a:xfrm>
            <a:off x="4562856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62856" y="212140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GitOps-native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62856" y="2468880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is a Kubernetes object — it fits directly into Flux / Argo CD pipelines already used for apps.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174736" y="1371600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75904" y="1572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3E6B99"/>
          </a:solidFill>
          <a:ln/>
        </p:spPr>
      </p:sp>
      <p:sp>
        <p:nvSpPr>
          <p:cNvPr id="15" name="Text 13"/>
          <p:cNvSpPr/>
          <p:nvPr/>
        </p:nvSpPr>
        <p:spPr>
          <a:xfrm>
            <a:off x="8375904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75904" y="212140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consistency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375904" y="2468880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control plane and one API surface across AWS, Azure, GCP, and on-prem.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3310128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49808" y="3511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5B7FA6"/>
          </a:solidFill>
          <a:ln/>
        </p:spPr>
      </p:sp>
      <p:sp>
        <p:nvSpPr>
          <p:cNvPr id="20" name="Text 18"/>
          <p:cNvSpPr/>
          <p:nvPr/>
        </p:nvSpPr>
        <p:spPr>
          <a:xfrm>
            <a:off x="74980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49808" y="4059936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correction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49808" y="4407408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reconciliation actively repairs infrastructure drift, not just detects it on the next run.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361688" y="3310128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62856" y="3511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84A6C9"/>
          </a:solidFill>
          <a:ln/>
        </p:spPr>
      </p:sp>
      <p:sp>
        <p:nvSpPr>
          <p:cNvPr id="25" name="Text 23"/>
          <p:cNvSpPr/>
          <p:nvPr/>
        </p:nvSpPr>
        <p:spPr>
          <a:xfrm>
            <a:off x="4562856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62856" y="4059936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state backend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4562856" y="4407408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lives as etcd objects in the cluster already run for workloads — no separate state store to secure.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174736" y="3310128"/>
            <a:ext cx="361188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75904" y="351129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0" name="Text 28"/>
          <p:cNvSpPr/>
          <p:nvPr/>
        </p:nvSpPr>
        <p:spPr>
          <a:xfrm>
            <a:off x="8375904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375904" y="4059936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at the API layer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375904" y="4407408"/>
            <a:ext cx="32095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Kubernetes-native RBAC, admission control, and OPA/Kyverno apply to infra the same way they do to apps.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IaC Landscape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tools, three operating models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02152" cy="4434840"/>
          </a:xfrm>
          <a:prstGeom prst="roundRect">
            <a:avLst>
              <a:gd name="adj" fmla="val 3133"/>
            </a:avLst>
          </a:prstGeom>
          <a:solidFill>
            <a:srgbClr val="13294B"/>
          </a:solidFill>
          <a:ln w="19050">
            <a:solidFill>
              <a:srgbClr val="5B7F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947672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B7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Terraform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04672" y="2423160"/>
            <a:ext cx="2990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IaC via a purpose-built DSL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04672" y="3364992"/>
            <a:ext cx="82296" cy="82296"/>
          </a:xfrm>
          <a:prstGeom prst="ellipse">
            <a:avLst/>
          </a:prstGeom>
          <a:solidFill>
            <a:srgbClr val="5B7FA6"/>
          </a:solidFill>
          <a:ln/>
        </p:spPr>
      </p:sp>
      <p:sp>
        <p:nvSpPr>
          <p:cNvPr id="8" name="Text 6"/>
          <p:cNvSpPr/>
          <p:nvPr/>
        </p:nvSpPr>
        <p:spPr>
          <a:xfrm>
            <a:off x="1033272" y="329184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/ run model — plan &amp; apply on demand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04672" y="4187952"/>
            <a:ext cx="82296" cy="82296"/>
          </a:xfrm>
          <a:prstGeom prst="ellipse">
            <a:avLst/>
          </a:prstGeom>
          <a:solidFill>
            <a:srgbClr val="5B7FA6"/>
          </a:solidFill>
          <a:ln/>
        </p:spPr>
      </p:sp>
      <p:sp>
        <p:nvSpPr>
          <p:cNvPr id="10" name="Text 8"/>
          <p:cNvSpPr/>
          <p:nvPr/>
        </p:nvSpPr>
        <p:spPr>
          <a:xfrm>
            <a:off x="1033272" y="411480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stored in a .tfstate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" y="5010912"/>
            <a:ext cx="82296" cy="82296"/>
          </a:xfrm>
          <a:prstGeom prst="ellipse">
            <a:avLst/>
          </a:prstGeom>
          <a:solidFill>
            <a:srgbClr val="5B7FA6"/>
          </a:solidFill>
          <a:ln/>
        </p:spPr>
      </p:sp>
      <p:sp>
        <p:nvSpPr>
          <p:cNvPr id="12" name="Text 10"/>
          <p:cNvSpPr/>
          <p:nvPr/>
        </p:nvSpPr>
        <p:spPr>
          <a:xfrm>
            <a:off x="1033272" y="493776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ecosystem covers 3,000+ APIs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25112" y="1691640"/>
            <a:ext cx="3502152" cy="4434840"/>
          </a:xfrm>
          <a:prstGeom prst="roundRect">
            <a:avLst>
              <a:gd name="adj" fmla="val 3133"/>
            </a:avLst>
          </a:prstGeom>
          <a:solidFill>
            <a:srgbClr val="13294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81144" y="1947672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Bicep / ARM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581144" y="2423160"/>
            <a:ext cx="2990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Azure-native IaC, first-party tooling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81144" y="3364992"/>
            <a:ext cx="82296" cy="822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809744" y="329184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 deployment via the Azure RM engine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81144" y="4187952"/>
            <a:ext cx="82296" cy="822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411480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tracked by Azure itself — no state file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81144" y="5010912"/>
            <a:ext cx="82296" cy="8229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4809744" y="493776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Bicep compiles 1:1 to ARM JSON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101584" y="1691640"/>
            <a:ext cx="3502152" cy="4434840"/>
          </a:xfrm>
          <a:prstGeom prst="roundRect">
            <a:avLst>
              <a:gd name="adj" fmla="val 3133"/>
            </a:avLst>
          </a:prstGeom>
          <a:solidFill>
            <a:srgbClr val="13294B"/>
          </a:solidFill>
          <a:ln w="19050">
            <a:solidFill>
              <a:srgbClr val="5FD0C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57616" y="1947672"/>
            <a:ext cx="2990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Crossplane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8357616" y="2423160"/>
            <a:ext cx="2990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as a universal control plane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357616" y="3364992"/>
            <a:ext cx="82296" cy="82296"/>
          </a:xfrm>
          <a:prstGeom prst="ellipse">
            <a:avLst/>
          </a:prstGeom>
          <a:solidFill>
            <a:srgbClr val="5FD0C0"/>
          </a:solidFill>
          <a:ln/>
        </p:spPr>
      </p:sp>
      <p:sp>
        <p:nvSpPr>
          <p:cNvPr id="26" name="Text 24"/>
          <p:cNvSpPr/>
          <p:nvPr/>
        </p:nvSpPr>
        <p:spPr>
          <a:xfrm>
            <a:off x="8586216" y="329184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/ control-loop — continuous reconciliation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357616" y="4187952"/>
            <a:ext cx="82296" cy="82296"/>
          </a:xfrm>
          <a:prstGeom prst="ellipse">
            <a:avLst/>
          </a:prstGeom>
          <a:solidFill>
            <a:srgbClr val="5FD0C0"/>
          </a:solidFill>
          <a:ln/>
        </p:spPr>
      </p:sp>
      <p:sp>
        <p:nvSpPr>
          <p:cNvPr id="28" name="Text 26"/>
          <p:cNvSpPr/>
          <p:nvPr/>
        </p:nvSpPr>
        <p:spPr>
          <a:xfrm>
            <a:off x="8586216" y="411480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v2: namespaced XRs, requested directly — no Claims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357616" y="5010912"/>
            <a:ext cx="82296" cy="82296"/>
          </a:xfrm>
          <a:prstGeom prst="ellipse">
            <a:avLst/>
          </a:prstGeom>
          <a:solidFill>
            <a:srgbClr val="5FD0C0"/>
          </a:solidFill>
          <a:ln/>
        </p:spPr>
      </p:sp>
      <p:sp>
        <p:nvSpPr>
          <p:cNvPr id="30" name="Text 28"/>
          <p:cNvSpPr/>
          <p:nvPr/>
        </p:nvSpPr>
        <p:spPr>
          <a:xfrm>
            <a:off x="8586216" y="4937760"/>
            <a:ext cx="27614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providers + custom Compositions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Terraform vs. Bicep/ARM vs. Crossplane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solidFill>
            <a:srgbClr val="0B1E3D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67512" y="132588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53512" y="132588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879592" y="132588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Bicep / ARM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05672" y="132588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74520"/>
            <a:ext cx="11064240" cy="548640"/>
          </a:xfrm>
          <a:prstGeom prst="rect">
            <a:avLst/>
          </a:prstGeom>
          <a:solidFill>
            <a:srgbClr val="EDF2F7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" y="187452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scope</a:t>
            </a:r>
            <a:endParaRPr lang="en-US" sz="970" dirty="0"/>
          </a:p>
        </p:txBody>
      </p:sp>
      <p:sp>
        <p:nvSpPr>
          <p:cNvPr id="11" name="Text 9"/>
          <p:cNvSpPr/>
          <p:nvPr/>
        </p:nvSpPr>
        <p:spPr>
          <a:xfrm>
            <a:off x="2953512" y="187452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(3,000+ providers)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5879592" y="187452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only</a:t>
            </a:r>
            <a:endParaRPr lang="en-US" sz="970" dirty="0"/>
          </a:p>
        </p:txBody>
      </p:sp>
      <p:sp>
        <p:nvSpPr>
          <p:cNvPr id="13" name="Text 11"/>
          <p:cNvSpPr/>
          <p:nvPr/>
        </p:nvSpPr>
        <p:spPr>
          <a:xfrm>
            <a:off x="8805672" y="187452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(AWS/Azure/GCP)</a:t>
            </a:r>
            <a:endParaRPr lang="en-US" sz="970" dirty="0"/>
          </a:p>
        </p:txBody>
      </p:sp>
      <p:sp>
        <p:nvSpPr>
          <p:cNvPr id="14" name="Shape 12"/>
          <p:cNvSpPr/>
          <p:nvPr/>
        </p:nvSpPr>
        <p:spPr>
          <a:xfrm>
            <a:off x="548640" y="242316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" y="242316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model</a:t>
            </a:r>
            <a:endParaRPr lang="en-US" sz="970" dirty="0"/>
          </a:p>
        </p:txBody>
      </p:sp>
      <p:sp>
        <p:nvSpPr>
          <p:cNvPr id="16" name="Text 14"/>
          <p:cNvSpPr/>
          <p:nvPr/>
        </p:nvSpPr>
        <p:spPr>
          <a:xfrm>
            <a:off x="2953512" y="242316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/ apply (CLI or CI)</a:t>
            </a:r>
            <a:endParaRPr lang="en-US" sz="970" dirty="0"/>
          </a:p>
        </p:txBody>
      </p:sp>
      <p:sp>
        <p:nvSpPr>
          <p:cNvPr id="17" name="Text 15"/>
          <p:cNvSpPr/>
          <p:nvPr/>
        </p:nvSpPr>
        <p:spPr>
          <a:xfrm>
            <a:off x="5879592" y="242316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 ARM deployment</a:t>
            </a:r>
            <a:endParaRPr lang="en-US" sz="970" dirty="0"/>
          </a:p>
        </p:txBody>
      </p:sp>
      <p:sp>
        <p:nvSpPr>
          <p:cNvPr id="18" name="Text 16"/>
          <p:cNvSpPr/>
          <p:nvPr/>
        </p:nvSpPr>
        <p:spPr>
          <a:xfrm>
            <a:off x="8805672" y="242316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reconciliation loop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548640" y="2971800"/>
            <a:ext cx="11064240" cy="548640"/>
          </a:xfrm>
          <a:prstGeom prst="rect">
            <a:avLst/>
          </a:prstGeom>
          <a:solidFill>
            <a:srgbClr val="EDF2F7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" y="297180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management</a:t>
            </a:r>
            <a:endParaRPr lang="en-US" sz="970" dirty="0"/>
          </a:p>
        </p:txBody>
      </p:sp>
      <p:sp>
        <p:nvSpPr>
          <p:cNvPr id="21" name="Text 19"/>
          <p:cNvSpPr/>
          <p:nvPr/>
        </p:nvSpPr>
        <p:spPr>
          <a:xfrm>
            <a:off x="2953512" y="297180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state file</a:t>
            </a:r>
            <a:endParaRPr lang="en-US" sz="970" dirty="0"/>
          </a:p>
        </p:txBody>
      </p:sp>
      <p:sp>
        <p:nvSpPr>
          <p:cNvPr id="22" name="Text 20"/>
          <p:cNvSpPr/>
          <p:nvPr/>
        </p:nvSpPr>
        <p:spPr>
          <a:xfrm>
            <a:off x="5879592" y="297180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by Azure</a:t>
            </a:r>
            <a:endParaRPr lang="en-US" sz="970" dirty="0"/>
          </a:p>
        </p:txBody>
      </p:sp>
      <p:sp>
        <p:nvSpPr>
          <p:cNvPr id="23" name="Text 21"/>
          <p:cNvSpPr/>
          <p:nvPr/>
        </p:nvSpPr>
        <p:spPr>
          <a:xfrm>
            <a:off x="8805672" y="297180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API objects (etcd)</a:t>
            </a:r>
            <a:endParaRPr lang="en-US" sz="970" dirty="0"/>
          </a:p>
        </p:txBody>
      </p:sp>
      <p:sp>
        <p:nvSpPr>
          <p:cNvPr id="24" name="Shape 22"/>
          <p:cNvSpPr/>
          <p:nvPr/>
        </p:nvSpPr>
        <p:spPr>
          <a:xfrm>
            <a:off x="548640" y="352044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7512" y="352044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handling</a:t>
            </a:r>
            <a:endParaRPr lang="en-US" sz="970" dirty="0"/>
          </a:p>
        </p:txBody>
      </p:sp>
      <p:sp>
        <p:nvSpPr>
          <p:cNvPr id="26" name="Text 24"/>
          <p:cNvSpPr/>
          <p:nvPr/>
        </p:nvSpPr>
        <p:spPr>
          <a:xfrm>
            <a:off x="2953512" y="352044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— next plan/apply</a:t>
            </a:r>
            <a:endParaRPr lang="en-US" sz="970" dirty="0"/>
          </a:p>
        </p:txBody>
      </p:sp>
      <p:sp>
        <p:nvSpPr>
          <p:cNvPr id="27" name="Text 25"/>
          <p:cNvSpPr/>
          <p:nvPr/>
        </p:nvSpPr>
        <p:spPr>
          <a:xfrm>
            <a:off x="5879592" y="352044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— what-if &amp; re-deploy</a:t>
            </a:r>
            <a:endParaRPr lang="en-US" sz="970" dirty="0"/>
          </a:p>
        </p:txBody>
      </p:sp>
      <p:sp>
        <p:nvSpPr>
          <p:cNvPr id="28" name="Text 26"/>
          <p:cNvSpPr/>
          <p:nvPr/>
        </p:nvSpPr>
        <p:spPr>
          <a:xfrm>
            <a:off x="8805672" y="352044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— self-heals</a:t>
            </a:r>
            <a:endParaRPr lang="en-US" sz="970" dirty="0"/>
          </a:p>
        </p:txBody>
      </p:sp>
      <p:sp>
        <p:nvSpPr>
          <p:cNvPr id="29" name="Shape 27"/>
          <p:cNvSpPr/>
          <p:nvPr/>
        </p:nvSpPr>
        <p:spPr>
          <a:xfrm>
            <a:off x="548640" y="4069080"/>
            <a:ext cx="11064240" cy="548640"/>
          </a:xfrm>
          <a:prstGeom prst="rect">
            <a:avLst/>
          </a:prstGeom>
          <a:solidFill>
            <a:srgbClr val="EDF2F7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" y="406908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970" dirty="0"/>
          </a:p>
        </p:txBody>
      </p:sp>
      <p:sp>
        <p:nvSpPr>
          <p:cNvPr id="31" name="Text 29"/>
          <p:cNvSpPr/>
          <p:nvPr/>
        </p:nvSpPr>
        <p:spPr>
          <a:xfrm>
            <a:off x="2953512" y="406908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</a:t>
            </a:r>
            <a:endParaRPr lang="en-US" sz="970" dirty="0"/>
          </a:p>
        </p:txBody>
      </p:sp>
      <p:sp>
        <p:nvSpPr>
          <p:cNvPr id="32" name="Text 30"/>
          <p:cNvSpPr/>
          <p:nvPr/>
        </p:nvSpPr>
        <p:spPr>
          <a:xfrm>
            <a:off x="5879592" y="406908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Bicep DSL / ARM JSON</a:t>
            </a:r>
            <a:endParaRPr lang="en-US" sz="970" dirty="0"/>
          </a:p>
        </p:txBody>
      </p:sp>
      <p:sp>
        <p:nvSpPr>
          <p:cNvPr id="33" name="Text 31"/>
          <p:cNvSpPr/>
          <p:nvPr/>
        </p:nvSpPr>
        <p:spPr>
          <a:xfrm>
            <a:off x="8805672" y="406908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YAML/CRDs + Compositions</a:t>
            </a:r>
            <a:endParaRPr lang="en-US" sz="970" dirty="0"/>
          </a:p>
        </p:txBody>
      </p:sp>
      <p:sp>
        <p:nvSpPr>
          <p:cNvPr id="34" name="Shape 32"/>
          <p:cNvSpPr/>
          <p:nvPr/>
        </p:nvSpPr>
        <p:spPr>
          <a:xfrm>
            <a:off x="548640" y="461772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7512" y="461772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abstraction</a:t>
            </a:r>
            <a:endParaRPr lang="en-US" sz="970" dirty="0"/>
          </a:p>
        </p:txBody>
      </p:sp>
      <p:sp>
        <p:nvSpPr>
          <p:cNvPr id="36" name="Text 34"/>
          <p:cNvSpPr/>
          <p:nvPr/>
        </p:nvSpPr>
        <p:spPr>
          <a:xfrm>
            <a:off x="2953512" y="461772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970" dirty="0"/>
          </a:p>
        </p:txBody>
      </p:sp>
      <p:sp>
        <p:nvSpPr>
          <p:cNvPr id="37" name="Text 35"/>
          <p:cNvSpPr/>
          <p:nvPr/>
        </p:nvSpPr>
        <p:spPr>
          <a:xfrm>
            <a:off x="5879592" y="461772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(reusable Bicep files)</a:t>
            </a:r>
            <a:endParaRPr lang="en-US" sz="970" dirty="0"/>
          </a:p>
        </p:txBody>
      </p:sp>
      <p:sp>
        <p:nvSpPr>
          <p:cNvPr id="38" name="Text 36"/>
          <p:cNvSpPr/>
          <p:nvPr/>
        </p:nvSpPr>
        <p:spPr>
          <a:xfrm>
            <a:off x="8805672" y="461772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Compositions + Namespaced XRs</a:t>
            </a:r>
            <a:endParaRPr lang="en-US" sz="970" dirty="0"/>
          </a:p>
        </p:txBody>
      </p:sp>
      <p:sp>
        <p:nvSpPr>
          <p:cNvPr id="39" name="Shape 37"/>
          <p:cNvSpPr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solidFill>
            <a:srgbClr val="EDF2F7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7512" y="516636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for devs</a:t>
            </a:r>
            <a:endParaRPr lang="en-US" sz="970" dirty="0"/>
          </a:p>
        </p:txBody>
      </p:sp>
      <p:sp>
        <p:nvSpPr>
          <p:cNvPr id="41" name="Text 39"/>
          <p:cNvSpPr/>
          <p:nvPr/>
        </p:nvSpPr>
        <p:spPr>
          <a:xfrm>
            <a:off x="2953512" y="516636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TF knowledge</a:t>
            </a:r>
            <a:endParaRPr lang="en-US" sz="970" dirty="0"/>
          </a:p>
        </p:txBody>
      </p:sp>
      <p:sp>
        <p:nvSpPr>
          <p:cNvPr id="42" name="Text 40"/>
          <p:cNvSpPr/>
          <p:nvPr/>
        </p:nvSpPr>
        <p:spPr>
          <a:xfrm>
            <a:off x="5879592" y="516636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Azure/Bicep knowledge</a:t>
            </a:r>
            <a:endParaRPr lang="en-US" sz="970" dirty="0"/>
          </a:p>
        </p:txBody>
      </p:sp>
      <p:sp>
        <p:nvSpPr>
          <p:cNvPr id="43" name="Text 41"/>
          <p:cNvSpPr/>
          <p:nvPr/>
        </p:nvSpPr>
        <p:spPr>
          <a:xfrm>
            <a:off x="8805672" y="516636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— namespaced XRs, RBAC-scoped</a:t>
            </a:r>
            <a:endParaRPr lang="en-US" sz="970" dirty="0"/>
          </a:p>
        </p:txBody>
      </p:sp>
      <p:sp>
        <p:nvSpPr>
          <p:cNvPr id="44" name="Shape 42"/>
          <p:cNvSpPr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4E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7512" y="5715000"/>
            <a:ext cx="20482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maturity</a:t>
            </a:r>
            <a:endParaRPr lang="en-US" sz="970" dirty="0"/>
          </a:p>
        </p:txBody>
      </p:sp>
      <p:sp>
        <p:nvSpPr>
          <p:cNvPr id="46" name="Text 44"/>
          <p:cNvSpPr/>
          <p:nvPr/>
        </p:nvSpPr>
        <p:spPr>
          <a:xfrm>
            <a:off x="2953512" y="571500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mature (10+ yrs)</a:t>
            </a:r>
            <a:endParaRPr lang="en-US" sz="970" dirty="0"/>
          </a:p>
        </p:txBody>
      </p:sp>
      <p:sp>
        <p:nvSpPr>
          <p:cNvPr id="47" name="Text 45"/>
          <p:cNvSpPr/>
          <p:nvPr/>
        </p:nvSpPr>
        <p:spPr>
          <a:xfrm>
            <a:off x="5879592" y="571500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Mature, Azure-native</a:t>
            </a:r>
            <a:endParaRPr lang="en-US" sz="970" dirty="0"/>
          </a:p>
        </p:txBody>
      </p:sp>
      <p:sp>
        <p:nvSpPr>
          <p:cNvPr id="48" name="Text 46"/>
          <p:cNvSpPr/>
          <p:nvPr/>
        </p:nvSpPr>
        <p:spPr>
          <a:xfrm>
            <a:off x="8805672" y="5715000"/>
            <a:ext cx="2688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fast (CNCF, 2024)</a:t>
            </a:r>
            <a:endParaRPr lang="en-US" sz="970" dirty="0"/>
          </a:p>
        </p:txBody>
      </p:sp>
      <p:sp>
        <p:nvSpPr>
          <p:cNvPr id="49" name="Text 47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Tool, and When?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02152" cy="4480560"/>
          </a:xfrm>
          <a:prstGeom prst="roundRect">
            <a:avLst>
              <a:gd name="adj" fmla="val 3133"/>
            </a:avLst>
          </a:prstGeom>
          <a:solidFill>
            <a:srgbClr val="EAF1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60020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Terraform when…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42316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423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24712" y="238658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Day-0 bootstrap of foundational infra (networks, accounts, org structure)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77240" y="35204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520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24712" y="348386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the widest possible provider coverage, incl. SaaS &amp; niche APIs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461772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617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24712" y="458114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changes are infrequent, reviewed via a human-gated pipeline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325112" y="1371600"/>
            <a:ext cx="3502152" cy="4480560"/>
          </a:xfrm>
          <a:prstGeom prst="roundRect">
            <a:avLst>
              <a:gd name="adj" fmla="val 3133"/>
            </a:avLst>
          </a:prstGeom>
          <a:solidFill>
            <a:srgbClr val="EAF1EF"/>
          </a:solidFill>
          <a:ln w="19050">
            <a:solidFill>
              <a:srgbClr val="3E6B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3712" y="160020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E6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Bicep/ARM when…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53712" y="242316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3E6B99"/>
          </a:solidFill>
          <a:ln/>
        </p:spPr>
      </p:sp>
      <p:sp>
        <p:nvSpPr>
          <p:cNvPr id="17" name="Text 15"/>
          <p:cNvSpPr/>
          <p:nvPr/>
        </p:nvSpPr>
        <p:spPr>
          <a:xfrm>
            <a:off x="4553712" y="2423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01184" y="238658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an Azure-only shop wanting first-party, fully-supported tooling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53712" y="35204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3E6B99"/>
          </a:solidFill>
          <a:ln/>
        </p:spPr>
      </p:sp>
      <p:sp>
        <p:nvSpPr>
          <p:cNvPr id="20" name="Text 18"/>
          <p:cNvSpPr/>
          <p:nvPr/>
        </p:nvSpPr>
        <p:spPr>
          <a:xfrm>
            <a:off x="4553712" y="3520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01184" y="348386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deep integration with Azure Policy, Blueprints &amp; RBAC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53712" y="461772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3E6B99"/>
          </a:solidFill>
          <a:ln/>
        </p:spPr>
      </p:sp>
      <p:sp>
        <p:nvSpPr>
          <p:cNvPr id="23" name="Text 21"/>
          <p:cNvSpPr/>
          <p:nvPr/>
        </p:nvSpPr>
        <p:spPr>
          <a:xfrm>
            <a:off x="4553712" y="4617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01184" y="458114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You'd rather not manage a separate state backend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101584" y="1371600"/>
            <a:ext cx="3502152" cy="4480560"/>
          </a:xfrm>
          <a:prstGeom prst="roundRect">
            <a:avLst>
              <a:gd name="adj" fmla="val 3133"/>
            </a:avLst>
          </a:prstGeom>
          <a:solidFill>
            <a:srgbClr val="E9F9F5"/>
          </a:solidFill>
          <a:ln w="19050">
            <a:solidFill>
              <a:srgbClr val="0E8C7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30184" y="160020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Crossplane when…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330184" y="242316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0E8C74"/>
          </a:solidFill>
          <a:ln/>
        </p:spPr>
      </p:sp>
      <p:sp>
        <p:nvSpPr>
          <p:cNvPr id="28" name="Text 26"/>
          <p:cNvSpPr/>
          <p:nvPr/>
        </p:nvSpPr>
        <p:spPr>
          <a:xfrm>
            <a:off x="8330184" y="2423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677656" y="238658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building a self-service internal developer platform (IDP)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330184" y="352044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0E8C74"/>
          </a:solidFill>
          <a:ln/>
        </p:spPr>
      </p:sp>
      <p:sp>
        <p:nvSpPr>
          <p:cNvPr id="31" name="Text 29"/>
          <p:cNvSpPr/>
          <p:nvPr/>
        </p:nvSpPr>
        <p:spPr>
          <a:xfrm>
            <a:off x="8330184" y="35204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677656" y="348386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infra managed alongside Kubernetes workloads (GitOps)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330184" y="4617720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0E8C74"/>
          </a:solidFill>
          <a:ln/>
        </p:spPr>
      </p:sp>
      <p:sp>
        <p:nvSpPr>
          <p:cNvPr id="34" name="Text 32"/>
          <p:cNvSpPr/>
          <p:nvPr/>
        </p:nvSpPr>
        <p:spPr>
          <a:xfrm>
            <a:off x="8330184" y="46177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677656" y="4581144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continuous drift correction without a scheduled job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Three-Way Trade-off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· Bicep/ARM · Crossplane, scored across what enterprises actually care about.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Multi-cloud reach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474720" y="1901952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6" name="Shape 4"/>
          <p:cNvSpPr/>
          <p:nvPr/>
        </p:nvSpPr>
        <p:spPr>
          <a:xfrm>
            <a:off x="3474720" y="1901952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C7293"/>
          </a:solidFill>
          <a:ln/>
        </p:spPr>
      </p:sp>
      <p:sp>
        <p:nvSpPr>
          <p:cNvPr id="7" name="Shape 5"/>
          <p:cNvSpPr/>
          <p:nvPr/>
        </p:nvSpPr>
        <p:spPr>
          <a:xfrm>
            <a:off x="5059680" y="1901952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8" name="Shape 6"/>
          <p:cNvSpPr/>
          <p:nvPr/>
        </p:nvSpPr>
        <p:spPr>
          <a:xfrm>
            <a:off x="5059680" y="1901952"/>
            <a:ext cx="262128" cy="201168"/>
          </a:xfrm>
          <a:prstGeom prst="roundRect">
            <a:avLst>
              <a:gd name="adj" fmla="val 18182"/>
            </a:avLst>
          </a:prstGeom>
          <a:solidFill>
            <a:srgbClr val="5B7FA6"/>
          </a:solidFill>
          <a:ln/>
        </p:spPr>
      </p:sp>
      <p:sp>
        <p:nvSpPr>
          <p:cNvPr id="9" name="Shape 7"/>
          <p:cNvSpPr/>
          <p:nvPr/>
        </p:nvSpPr>
        <p:spPr>
          <a:xfrm>
            <a:off x="6644640" y="1901952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10" name="Shape 8"/>
          <p:cNvSpPr/>
          <p:nvPr/>
        </p:nvSpPr>
        <p:spPr>
          <a:xfrm>
            <a:off x="6644640" y="1901952"/>
            <a:ext cx="1048512" cy="201168"/>
          </a:xfrm>
          <a:prstGeom prst="roundRect">
            <a:avLst>
              <a:gd name="adj" fmla="val 18182"/>
            </a:avLst>
          </a:prstGeom>
          <a:solidFill>
            <a:srgbClr val="5FD0C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3957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reconciliation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74720" y="2468880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13" name="Shape 11"/>
          <p:cNvSpPr/>
          <p:nvPr/>
        </p:nvSpPr>
        <p:spPr>
          <a:xfrm>
            <a:off x="3474720" y="2468880"/>
            <a:ext cx="262128" cy="201168"/>
          </a:xfrm>
          <a:prstGeom prst="roundRect">
            <a:avLst>
              <a:gd name="adj" fmla="val 18182"/>
            </a:avLst>
          </a:prstGeom>
          <a:solidFill>
            <a:srgbClr val="1C7293"/>
          </a:solidFill>
          <a:ln/>
        </p:spPr>
      </p:sp>
      <p:sp>
        <p:nvSpPr>
          <p:cNvPr id="14" name="Shape 12"/>
          <p:cNvSpPr/>
          <p:nvPr/>
        </p:nvSpPr>
        <p:spPr>
          <a:xfrm>
            <a:off x="5059680" y="2468880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15" name="Shape 13"/>
          <p:cNvSpPr/>
          <p:nvPr/>
        </p:nvSpPr>
        <p:spPr>
          <a:xfrm>
            <a:off x="5059680" y="2468880"/>
            <a:ext cx="524256" cy="201168"/>
          </a:xfrm>
          <a:prstGeom prst="roundRect">
            <a:avLst>
              <a:gd name="adj" fmla="val 18182"/>
            </a:avLst>
          </a:prstGeom>
          <a:solidFill>
            <a:srgbClr val="5B7FA6"/>
          </a:solidFill>
          <a:ln/>
        </p:spPr>
      </p:sp>
      <p:sp>
        <p:nvSpPr>
          <p:cNvPr id="16" name="Shape 14"/>
          <p:cNvSpPr/>
          <p:nvPr/>
        </p:nvSpPr>
        <p:spPr>
          <a:xfrm>
            <a:off x="6644640" y="2468880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17" name="Shape 15"/>
          <p:cNvSpPr/>
          <p:nvPr/>
        </p:nvSpPr>
        <p:spPr>
          <a:xfrm>
            <a:off x="6644640" y="2468880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5FD0C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296265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self-service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474720" y="3035808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20" name="Shape 18"/>
          <p:cNvSpPr/>
          <p:nvPr/>
        </p:nvSpPr>
        <p:spPr>
          <a:xfrm>
            <a:off x="3474720" y="3035808"/>
            <a:ext cx="524256" cy="201168"/>
          </a:xfrm>
          <a:prstGeom prst="roundRect">
            <a:avLst>
              <a:gd name="adj" fmla="val 18182"/>
            </a:avLst>
          </a:prstGeom>
          <a:solidFill>
            <a:srgbClr val="1C7293"/>
          </a:solidFill>
          <a:ln/>
        </p:spPr>
      </p:sp>
      <p:sp>
        <p:nvSpPr>
          <p:cNvPr id="21" name="Shape 19"/>
          <p:cNvSpPr/>
          <p:nvPr/>
        </p:nvSpPr>
        <p:spPr>
          <a:xfrm>
            <a:off x="5059680" y="3035808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22" name="Shape 20"/>
          <p:cNvSpPr/>
          <p:nvPr/>
        </p:nvSpPr>
        <p:spPr>
          <a:xfrm>
            <a:off x="5059680" y="3035808"/>
            <a:ext cx="524256" cy="201168"/>
          </a:xfrm>
          <a:prstGeom prst="roundRect">
            <a:avLst>
              <a:gd name="adj" fmla="val 18182"/>
            </a:avLst>
          </a:prstGeom>
          <a:solidFill>
            <a:srgbClr val="5B7FA6"/>
          </a:solidFill>
          <a:ln/>
        </p:spPr>
      </p:sp>
      <p:sp>
        <p:nvSpPr>
          <p:cNvPr id="23" name="Shape 21"/>
          <p:cNvSpPr/>
          <p:nvPr/>
        </p:nvSpPr>
        <p:spPr>
          <a:xfrm>
            <a:off x="6644640" y="3035808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24" name="Shape 22"/>
          <p:cNvSpPr/>
          <p:nvPr/>
        </p:nvSpPr>
        <p:spPr>
          <a:xfrm>
            <a:off x="6644640" y="3035808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5FD0C0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52958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maturity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474720" y="3602736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27" name="Shape 25"/>
          <p:cNvSpPr/>
          <p:nvPr/>
        </p:nvSpPr>
        <p:spPr>
          <a:xfrm>
            <a:off x="3474720" y="3602736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C7293"/>
          </a:solidFill>
          <a:ln/>
        </p:spPr>
      </p:sp>
      <p:sp>
        <p:nvSpPr>
          <p:cNvPr id="28" name="Shape 26"/>
          <p:cNvSpPr/>
          <p:nvPr/>
        </p:nvSpPr>
        <p:spPr>
          <a:xfrm>
            <a:off x="5059680" y="3602736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29" name="Shape 27"/>
          <p:cNvSpPr/>
          <p:nvPr/>
        </p:nvSpPr>
        <p:spPr>
          <a:xfrm>
            <a:off x="5059680" y="3602736"/>
            <a:ext cx="1048512" cy="201168"/>
          </a:xfrm>
          <a:prstGeom prst="roundRect">
            <a:avLst>
              <a:gd name="adj" fmla="val 18182"/>
            </a:avLst>
          </a:prstGeom>
          <a:solidFill>
            <a:srgbClr val="5B7FA6"/>
          </a:solidFill>
          <a:ln/>
        </p:spPr>
      </p:sp>
      <p:sp>
        <p:nvSpPr>
          <p:cNvPr id="30" name="Shape 28"/>
          <p:cNvSpPr/>
          <p:nvPr/>
        </p:nvSpPr>
        <p:spPr>
          <a:xfrm>
            <a:off x="6644640" y="3602736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31" name="Shape 29"/>
          <p:cNvSpPr/>
          <p:nvPr/>
        </p:nvSpPr>
        <p:spPr>
          <a:xfrm>
            <a:off x="6644640" y="3602736"/>
            <a:ext cx="786384" cy="201168"/>
          </a:xfrm>
          <a:prstGeom prst="roundRect">
            <a:avLst>
              <a:gd name="adj" fmla="val 18182"/>
            </a:avLst>
          </a:prstGeom>
          <a:solidFill>
            <a:srgbClr val="5FD0C0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" y="409651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/ GitOps fit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474720" y="4169664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34" name="Shape 32"/>
          <p:cNvSpPr/>
          <p:nvPr/>
        </p:nvSpPr>
        <p:spPr>
          <a:xfrm>
            <a:off x="3474720" y="4169664"/>
            <a:ext cx="786384" cy="201168"/>
          </a:xfrm>
          <a:prstGeom prst="roundRect">
            <a:avLst>
              <a:gd name="adj" fmla="val 18182"/>
            </a:avLst>
          </a:prstGeom>
          <a:solidFill>
            <a:srgbClr val="1C7293"/>
          </a:solidFill>
          <a:ln/>
        </p:spPr>
      </p:sp>
      <p:sp>
        <p:nvSpPr>
          <p:cNvPr id="35" name="Shape 33"/>
          <p:cNvSpPr/>
          <p:nvPr/>
        </p:nvSpPr>
        <p:spPr>
          <a:xfrm>
            <a:off x="5059680" y="4169664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36" name="Shape 34"/>
          <p:cNvSpPr/>
          <p:nvPr/>
        </p:nvSpPr>
        <p:spPr>
          <a:xfrm>
            <a:off x="5059680" y="4169664"/>
            <a:ext cx="524256" cy="201168"/>
          </a:xfrm>
          <a:prstGeom prst="roundRect">
            <a:avLst>
              <a:gd name="adj" fmla="val 18182"/>
            </a:avLst>
          </a:prstGeom>
          <a:solidFill>
            <a:srgbClr val="5B7FA6"/>
          </a:solidFill>
          <a:ln/>
        </p:spPr>
      </p:sp>
      <p:sp>
        <p:nvSpPr>
          <p:cNvPr id="37" name="Shape 35"/>
          <p:cNvSpPr/>
          <p:nvPr/>
        </p:nvSpPr>
        <p:spPr>
          <a:xfrm>
            <a:off x="6644640" y="4169664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38" name="Shape 36"/>
          <p:cNvSpPr/>
          <p:nvPr/>
        </p:nvSpPr>
        <p:spPr>
          <a:xfrm>
            <a:off x="6644640" y="4169664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5FD0C0"/>
          </a:solidFill>
          <a:ln/>
        </p:spPr>
      </p:sp>
      <p:sp>
        <p:nvSpPr>
          <p:cNvPr id="39" name="Text 37"/>
          <p:cNvSpPr/>
          <p:nvPr/>
        </p:nvSpPr>
        <p:spPr>
          <a:xfrm>
            <a:off x="640080" y="466344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curve (lower=easier)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474720" y="4736592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41" name="Shape 39"/>
          <p:cNvSpPr/>
          <p:nvPr/>
        </p:nvSpPr>
        <p:spPr>
          <a:xfrm>
            <a:off x="3474720" y="4736592"/>
            <a:ext cx="786384" cy="201168"/>
          </a:xfrm>
          <a:prstGeom prst="roundRect">
            <a:avLst>
              <a:gd name="adj" fmla="val 18182"/>
            </a:avLst>
          </a:prstGeom>
          <a:solidFill>
            <a:srgbClr val="1C7293"/>
          </a:solidFill>
          <a:ln/>
        </p:spPr>
      </p:sp>
      <p:sp>
        <p:nvSpPr>
          <p:cNvPr id="42" name="Shape 40"/>
          <p:cNvSpPr/>
          <p:nvPr/>
        </p:nvSpPr>
        <p:spPr>
          <a:xfrm>
            <a:off x="5059680" y="4736592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43" name="Shape 41"/>
          <p:cNvSpPr/>
          <p:nvPr/>
        </p:nvSpPr>
        <p:spPr>
          <a:xfrm>
            <a:off x="5059680" y="4736592"/>
            <a:ext cx="1048512" cy="201168"/>
          </a:xfrm>
          <a:prstGeom prst="roundRect">
            <a:avLst>
              <a:gd name="adj" fmla="val 18182"/>
            </a:avLst>
          </a:prstGeom>
          <a:solidFill>
            <a:srgbClr val="5B7FA6"/>
          </a:solidFill>
          <a:ln/>
        </p:spPr>
      </p:sp>
      <p:sp>
        <p:nvSpPr>
          <p:cNvPr id="44" name="Shape 42"/>
          <p:cNvSpPr/>
          <p:nvPr/>
        </p:nvSpPr>
        <p:spPr>
          <a:xfrm>
            <a:off x="6644640" y="4736592"/>
            <a:ext cx="1310640" cy="201168"/>
          </a:xfrm>
          <a:prstGeom prst="roundRect">
            <a:avLst>
              <a:gd name="adj" fmla="val 18182"/>
            </a:avLst>
          </a:prstGeom>
          <a:solidFill>
            <a:srgbClr val="1B3A5C"/>
          </a:solidFill>
          <a:ln/>
        </p:spPr>
      </p:sp>
      <p:sp>
        <p:nvSpPr>
          <p:cNvPr id="45" name="Shape 43"/>
          <p:cNvSpPr/>
          <p:nvPr/>
        </p:nvSpPr>
        <p:spPr>
          <a:xfrm>
            <a:off x="6644640" y="4736592"/>
            <a:ext cx="524256" cy="201168"/>
          </a:xfrm>
          <a:prstGeom prst="roundRect">
            <a:avLst>
              <a:gd name="adj" fmla="val 18182"/>
            </a:avLst>
          </a:prstGeom>
          <a:solidFill>
            <a:srgbClr val="5FD0C0"/>
          </a:solidFill>
          <a:ln/>
        </p:spPr>
      </p:sp>
      <p:sp>
        <p:nvSpPr>
          <p:cNvPr id="46" name="Shape 44"/>
          <p:cNvSpPr/>
          <p:nvPr/>
        </p:nvSpPr>
        <p:spPr>
          <a:xfrm>
            <a:off x="3474720" y="1444752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1C7293"/>
          </a:solidFill>
          <a:ln/>
        </p:spPr>
      </p:sp>
      <p:sp>
        <p:nvSpPr>
          <p:cNvPr id="47" name="Text 45"/>
          <p:cNvSpPr/>
          <p:nvPr/>
        </p:nvSpPr>
        <p:spPr>
          <a:xfrm>
            <a:off x="3694176" y="1408176"/>
            <a:ext cx="131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059680" y="1444752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5B7FA6"/>
          </a:solidFill>
          <a:ln/>
        </p:spPr>
      </p:sp>
      <p:sp>
        <p:nvSpPr>
          <p:cNvPr id="49" name="Text 47"/>
          <p:cNvSpPr/>
          <p:nvPr/>
        </p:nvSpPr>
        <p:spPr>
          <a:xfrm>
            <a:off x="5279136" y="1408176"/>
            <a:ext cx="131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Bicep/ARM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644640" y="1444752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5FD0C0"/>
          </a:solidFill>
          <a:ln/>
        </p:spPr>
      </p:sp>
      <p:sp>
        <p:nvSpPr>
          <p:cNvPr id="51" name="Text 49"/>
          <p:cNvSpPr/>
          <p:nvPr/>
        </p:nvSpPr>
        <p:spPr>
          <a:xfrm>
            <a:off x="6864096" y="1408176"/>
            <a:ext cx="131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Installing Crossplane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Helm install brings up the control plane inside any Kubernetes cluster.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807208"/>
          </a:xfrm>
          <a:prstGeom prst="roundRect">
            <a:avLst>
              <a:gd name="adj" fmla="val 2606"/>
            </a:avLst>
          </a:prstGeom>
          <a:solidFill>
            <a:srgbClr val="0A1830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19072"/>
            <a:ext cx="4992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install.sh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49808" y="202996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the Crossplane Helm repo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9808" y="2244852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helm repo add crossplane-stable \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459736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https://charts.crossplane.io/stable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2674620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helm repo update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49808" y="2889504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49808" y="310438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Install into its own namespace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3319272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helm install crossplane \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49808" y="3534156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crossplane-stable/crossplane \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49808" y="3749040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--namespace crossplane-system \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" y="3963924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--create-namespace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1554480"/>
            <a:ext cx="5394960" cy="1732788"/>
          </a:xfrm>
          <a:prstGeom prst="roundRect">
            <a:avLst>
              <a:gd name="adj" fmla="val 4222"/>
            </a:avLst>
          </a:prstGeom>
          <a:solidFill>
            <a:srgbClr val="0A1830"/>
          </a:solidFill>
          <a:ln w="12700">
            <a:solidFill>
              <a:srgbClr val="5FD0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9088" y="1719072"/>
            <a:ext cx="4992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19088" y="202996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E3D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get pods -n crossplane-system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19088" y="2244852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19088" y="2459736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                         READY  STATUS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19088" y="2674620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crossplane-7d9f6c9b5c-x2k9p    1/1   Running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19088" y="2889504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crossplane-rbac-manager-8f6d7  1/1   Running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590288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13294B"/>
          </a:solidFill>
          <a:ln w="12700">
            <a:solidFill>
              <a:srgbClr val="3E6B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9808" y="4754880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core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49808" y="5138928"/>
            <a:ext cx="30998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XRD &amp; Composition controllers that power every custom API.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25112" y="4590288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13294B"/>
          </a:solidFill>
          <a:ln w="12700">
            <a:solidFill>
              <a:srgbClr val="3E6B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26280" y="4754880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Manager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4526280" y="5138928"/>
            <a:ext cx="30998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Auto-provisions the namespaced permissions each new API needs.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101584" y="4590288"/>
            <a:ext cx="3502152" cy="1417320"/>
          </a:xfrm>
          <a:prstGeom prst="roundRect">
            <a:avLst>
              <a:gd name="adj" fmla="val 6452"/>
            </a:avLst>
          </a:prstGeom>
          <a:solidFill>
            <a:srgbClr val="13294B"/>
          </a:solidFill>
          <a:ln w="12700">
            <a:solidFill>
              <a:srgbClr val="3E6B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02752" y="4754880"/>
            <a:ext cx="3099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Manager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8302752" y="5138928"/>
            <a:ext cx="30998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and upgrades Providers and Functions as cluster packages.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Onboarding the Azure Provider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v2 splits Azure support into per-service providers, installed as cluster packages.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2377440"/>
          </a:xfrm>
          <a:prstGeom prst="roundRect">
            <a:avLst>
              <a:gd name="adj" fmla="val 3077"/>
            </a:avLst>
          </a:prstGeom>
          <a:solidFill>
            <a:srgbClr val="0A1830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673352"/>
            <a:ext cx="4992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provider.yaml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49808" y="198424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pkg.crossplane.io/v1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9808" y="2199132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Provider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9808" y="2414016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2628900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provider-azure-storage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49808" y="2843784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49808" y="305866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package: &gt;-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3273552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xpkg.upbound.io/upbound/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49808" y="3488436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provider-azure-storage:v1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508760"/>
            <a:ext cx="5394960" cy="3022092"/>
          </a:xfrm>
          <a:prstGeom prst="roundRect">
            <a:avLst>
              <a:gd name="adj" fmla="val 2421"/>
            </a:avLst>
          </a:prstGeom>
          <a:solidFill>
            <a:srgbClr val="0A1830"/>
          </a:solidFill>
          <a:ln w="12700">
            <a:solidFill>
              <a:srgbClr val="5FD0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9088" y="1673352"/>
            <a:ext cx="4992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providerconfig.yaml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19088" y="198424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azure.upbound.io/v1beta1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19088" y="2199132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ProviderConfig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19088" y="2414016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19088" y="2628900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default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19088" y="2843784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19088" y="305866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credentials: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19088" y="3273552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source: Secret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19088" y="3488436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secretRef: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19088" y="3703320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namespace: crossplane-system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19088" y="3918204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name: azure-creds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19088" y="4133088"/>
            <a:ext cx="499262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key: creds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5623560"/>
            <a:ext cx="11064240" cy="594360"/>
          </a:xfrm>
          <a:prstGeom prst="roundRect">
            <a:avLst>
              <a:gd name="adj" fmla="val 15385"/>
            </a:avLst>
          </a:prstGeom>
          <a:solidFill>
            <a:srgbClr val="EAF1F8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62356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417320" y="5623560"/>
            <a:ext cx="9966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Identity removes the need for a long-lived Service Principal secret entirely when running in AKS.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Your First Resources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namespaced Managed Resource, applied directly — no Claim required (v2).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126480" cy="4690872"/>
          </a:xfrm>
          <a:prstGeom prst="roundRect">
            <a:avLst>
              <a:gd name="adj" fmla="val 1559"/>
            </a:avLst>
          </a:prstGeom>
          <a:solidFill>
            <a:srgbClr val="0A1830"/>
          </a:solidFill>
          <a:ln w="12700">
            <a:solidFill>
              <a:srgbClr val="5FD0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673352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resources.yaml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49808" y="1984248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azure.upbound.io/v1beta1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49808" y="2176272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ResourceGroup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49808" y="2368296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560320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demo-rg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2752344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namespace: team-a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49808" y="2944368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49808" y="3136392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forProvider: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328416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location: westeurope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49808" y="3520440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49808" y="3712464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apiVersion: storage.azure.upbound.io/v1beta1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49808" y="3904488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kind: Account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49808" y="4096512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metadata: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49808" y="4288536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demosa001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4480560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namespace: team-a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49808" y="4672584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spec: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49808" y="4864608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forProvider: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49808" y="5056632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location: westeurope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49808" y="5248656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accountTier: Standard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49808" y="5440680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accountReplicationType: LRS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49808" y="5632704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resourceGroupNameSelector: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49808" y="5824728"/>
            <a:ext cx="5724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7E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matchControllerRef: true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040880" y="1508760"/>
            <a:ext cx="4480560" cy="1828800"/>
          </a:xfrm>
          <a:prstGeom prst="roundRect">
            <a:avLst>
              <a:gd name="adj" fmla="val 5000"/>
            </a:avLst>
          </a:prstGeom>
          <a:solidFill>
            <a:srgbClr val="13294B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69480" y="16459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namespace: team-a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315200" y="2057400"/>
            <a:ext cx="2743200" cy="548640"/>
          </a:xfrm>
          <a:prstGeom prst="roundRect">
            <a:avLst>
              <a:gd name="adj" fmla="val 10000"/>
            </a:avLst>
          </a:prstGeom>
          <a:solidFill>
            <a:srgbClr val="3E6B99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0" y="2057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ResourceGroup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149840" y="2057400"/>
            <a:ext cx="1097280" cy="548640"/>
          </a:xfrm>
          <a:prstGeom prst="roundRect">
            <a:avLst>
              <a:gd name="adj" fmla="val 10000"/>
            </a:avLst>
          </a:prstGeom>
          <a:solidFill>
            <a:srgbClr val="5FD0C0"/>
          </a:solidFill>
          <a:ln/>
        </p:spPr>
      </p:sp>
      <p:sp>
        <p:nvSpPr>
          <p:cNvPr id="32" name="Text 30"/>
          <p:cNvSpPr/>
          <p:nvPr/>
        </p:nvSpPr>
        <p:spPr>
          <a:xfrm>
            <a:off x="10149840" y="2057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823960" y="26974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7040880" y="3063240"/>
            <a:ext cx="4480560" cy="822960"/>
          </a:xfrm>
          <a:prstGeom prst="roundRect">
            <a:avLst>
              <a:gd name="adj" fmla="val 11111"/>
            </a:avLst>
          </a:prstGeom>
          <a:solidFill>
            <a:srgbClr val="0B1E3D"/>
          </a:solidFill>
          <a:ln w="19050">
            <a:solidFill>
              <a:srgbClr val="5FD0C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40880" y="306324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Azure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7040880" y="4160520"/>
            <a:ext cx="4480560" cy="1417320"/>
          </a:xfrm>
          <a:prstGeom prst="roundRect">
            <a:avLst>
              <a:gd name="adj" fmla="val 6452"/>
            </a:avLst>
          </a:prstGeom>
          <a:solidFill>
            <a:srgbClr val="13294B"/>
          </a:solidFill>
          <a:ln w="12700">
            <a:solidFill>
              <a:srgbClr val="3E6B9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69480" y="4297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it like any other Kubernetes object: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269480" y="4663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D0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apply -f resources.yaml -n team-a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269480" y="50292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reconciles both objects continuously — delete either and it's recreated to match spec.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Demo: A More Involved Deployment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storage account, private DNS zone, and a private endpoint — wired together with resource selectors.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5B7FA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2996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4231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5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VirtualNetwork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240280" y="21945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560320" y="192024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02996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651760" y="24231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5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Subnet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251960" y="21945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0" y="192024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3E6B99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202996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Endpoint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663440" y="24231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5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PrivateEndpoint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263640" y="21945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583680" y="192024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0E8C74"/>
          </a:solidFill>
          <a:ln/>
        </p:spPr>
      </p:sp>
      <p:sp>
        <p:nvSpPr>
          <p:cNvPr id="17" name="Text 15"/>
          <p:cNvSpPr/>
          <p:nvPr/>
        </p:nvSpPr>
        <p:spPr>
          <a:xfrm>
            <a:off x="6675120" y="202996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Account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75120" y="24231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5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234940" y="288036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06240" y="324612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4206240" y="33375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DNS Zone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206240" y="36576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5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PrivateDNSZone + ZoneGroup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251960"/>
            <a:ext cx="7726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the storage account's private FQDN to the endpoint's private IP inside the VNet.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915400" y="1920240"/>
            <a:ext cx="2724912" cy="3794760"/>
          </a:xfrm>
          <a:prstGeom prst="roundRect">
            <a:avLst>
              <a:gd name="adj" fmla="val 3356"/>
            </a:avLst>
          </a:prstGeom>
          <a:solidFill>
            <a:srgbClr val="F1F5F9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98280" y="2057400"/>
            <a:ext cx="2359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involved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281160" y="2468880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VirtualNetwork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9098280" y="2564892"/>
            <a:ext cx="64008" cy="640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8" name="Text 26"/>
          <p:cNvSpPr/>
          <p:nvPr/>
        </p:nvSpPr>
        <p:spPr>
          <a:xfrm>
            <a:off x="9281160" y="2898648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Subnet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9098280" y="2994660"/>
            <a:ext cx="64008" cy="640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0" name="Text 28"/>
          <p:cNvSpPr/>
          <p:nvPr/>
        </p:nvSpPr>
        <p:spPr>
          <a:xfrm>
            <a:off x="9281160" y="3328416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9098280" y="3424428"/>
            <a:ext cx="64008" cy="640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2" name="Text 30"/>
          <p:cNvSpPr/>
          <p:nvPr/>
        </p:nvSpPr>
        <p:spPr>
          <a:xfrm>
            <a:off x="9281160" y="3758184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PrivateEndpoint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9098280" y="3854196"/>
            <a:ext cx="64008" cy="640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4" name="Text 32"/>
          <p:cNvSpPr/>
          <p:nvPr/>
        </p:nvSpPr>
        <p:spPr>
          <a:xfrm>
            <a:off x="9281160" y="4187952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PrivateDNSZone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9098280" y="4283964"/>
            <a:ext cx="64008" cy="640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6" name="Text 34"/>
          <p:cNvSpPr/>
          <p:nvPr/>
        </p:nvSpPr>
        <p:spPr>
          <a:xfrm>
            <a:off x="9281160" y="4617720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PrivateDNSZoneVirtualNetworkLink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9098280" y="4713732"/>
            <a:ext cx="64008" cy="640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8" name="Text 36"/>
          <p:cNvSpPr/>
          <p:nvPr/>
        </p:nvSpPr>
        <p:spPr>
          <a:xfrm>
            <a:off x="9281160" y="5047488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3645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PrivateDNSZoneGroup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9098280" y="5143500"/>
            <a:ext cx="64008" cy="6400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9098280" y="5522976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namespaced — one team's network stack per namespace.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Common Enterprise Adoption Pattern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organizations run these tools together, not instead of one another.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91640"/>
            <a:ext cx="3520440" cy="502920"/>
          </a:xfrm>
          <a:prstGeom prst="roundRect">
            <a:avLst>
              <a:gd name="adj" fmla="val 18182"/>
            </a:avLst>
          </a:prstGeom>
          <a:solidFill>
            <a:srgbClr val="5B7FA6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965960"/>
            <a:ext cx="3520440" cy="228600"/>
          </a:xfrm>
          <a:prstGeom prst="rect">
            <a:avLst/>
          </a:prstGeom>
          <a:solidFill>
            <a:srgbClr val="5B7FA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691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Foundational infra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546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/ Bicep provisions accounts, networks, IAM, and the Kubernetes clusters themselves.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9080" y="30632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2044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43400" y="1691640"/>
            <a:ext cx="3520440" cy="502920"/>
          </a:xfrm>
          <a:prstGeom prst="roundRect">
            <a:avLst>
              <a:gd name="adj" fmla="val 18182"/>
            </a:avLst>
          </a:prstGeom>
          <a:solidFill>
            <a:srgbClr val="1C7293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3400" y="1965960"/>
            <a:ext cx="3520440" cy="2286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4526280" y="1691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26280" y="237744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layer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26280" y="2834640"/>
            <a:ext cx="31546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is installed onto those clusters; platform teams author Compositions exposing golden-path APIs.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63840" y="30632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38160" y="1691640"/>
            <a:ext cx="352044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1691640"/>
            <a:ext cx="3520440" cy="502920"/>
          </a:xfrm>
          <a:prstGeom prst="roundRect">
            <a:avLst>
              <a:gd name="adj" fmla="val 18182"/>
            </a:avLst>
          </a:prstGeom>
          <a:solidFill>
            <a:srgbClr val="5FD0C0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8160" y="1965960"/>
            <a:ext cx="3520440" cy="228600"/>
          </a:xfrm>
          <a:prstGeom prst="rect">
            <a:avLst/>
          </a:prstGeom>
          <a:solidFill>
            <a:srgbClr val="5FD0C0"/>
          </a:solidFill>
          <a:ln/>
        </p:spPr>
      </p:sp>
      <p:sp>
        <p:nvSpPr>
          <p:cNvPr id="21" name="Text 19"/>
          <p:cNvSpPr/>
          <p:nvPr/>
        </p:nvSpPr>
        <p:spPr>
          <a:xfrm>
            <a:off x="8321040" y="1691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21040" y="237744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self-service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321040" y="2834640"/>
            <a:ext cx="31546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teams submit namespaced XRs directly via GitOps; infra scales with the app lifecycle, drift self-heals.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12064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AF1F8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51206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148840" y="5120640"/>
            <a:ext cx="9189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doesn't replace Terraform or Bicep at Day 0 — it typically sits on top, turning what they provisioned into self-service platform APIs.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7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&amp; Considerations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28016" cy="777240"/>
          </a:xfrm>
          <a:prstGeom prst="roundRect">
            <a:avLst/>
          </a:prstGeom>
          <a:solidFill>
            <a:srgbClr val="C97A3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4447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overhead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846320" y="144475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running &amp; maintaining a Kubernetes cluster as critical infrastructure — not a trivial dependency to add.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377440"/>
            <a:ext cx="128016" cy="777240"/>
          </a:xfrm>
          <a:prstGeom prst="roundRect">
            <a:avLst/>
          </a:prstGeom>
          <a:solidFill>
            <a:srgbClr val="C97A3E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3591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maturity gap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46320" y="235915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providers and less community content than Terraform's decade-long head start; some APIs lag behind cloud releases.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128016" cy="777240"/>
          </a:xfrm>
          <a:prstGeom prst="roundRect">
            <a:avLst/>
          </a:prstGeom>
          <a:solidFill>
            <a:srgbClr val="C97A3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735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curve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846320" y="327355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must think in Kubernetes reconciliation and CRDs, a mental model unfamiliar to traditional infra engineers.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206240"/>
            <a:ext cx="128016" cy="777240"/>
          </a:xfrm>
          <a:prstGeom prst="roundRect">
            <a:avLst/>
          </a:prstGeom>
          <a:solidFill>
            <a:srgbClr val="C97A3E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1879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complexity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846320" y="418795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Compositions (functions, patch-and-transform) can become as intricate as the Terraform modules they replace.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5120640"/>
            <a:ext cx="128016" cy="777240"/>
          </a:xfrm>
          <a:prstGeom prst="roundRect">
            <a:avLst/>
          </a:prstGeom>
          <a:solidFill>
            <a:srgbClr val="C97A3E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1023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2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 &amp; debugging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846320" y="510235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Troubleshooting spans kubectl, controller logs, and cloud consoles — less mature UX than `terraform plan` diffs.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097280"/>
            <a:ext cx="3749040" cy="3749040"/>
          </a:xfrm>
          <a:prstGeom prst="roundRect">
            <a:avLst>
              <a:gd name="adj" fmla="val 8537"/>
            </a:avLst>
          </a:prstGeom>
          <a:solidFill>
            <a:srgbClr val="0F2A4A"/>
          </a:solidFill>
          <a:ln w="19050">
            <a:solidFill>
              <a:srgbClr val="5FD0C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955280" y="1097280"/>
            <a:ext cx="37490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5FD0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365760" cy="365760"/>
          </a:xfrm>
          <a:prstGeom prst="ellipse">
            <a:avLst/>
          </a:prstGeom>
          <a:solidFill>
            <a:srgbClr val="5FD0C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1362456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isn't a Terraform or Bicep replacement — it's a platform layer that turns provisioned infra into self-service, Kubernetes-native APIs.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377440"/>
            <a:ext cx="365760" cy="365760"/>
          </a:xfrm>
          <a:prstGeom prst="ellipse">
            <a:avLst/>
          </a:prstGeom>
          <a:solidFill>
            <a:srgbClr val="5FD0C0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322576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Terraform / Bicep for broad, one-shot, human-gated provisioning — especially Day-0 foundational infra.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37560"/>
            <a:ext cx="365760" cy="365760"/>
          </a:xfrm>
          <a:prstGeom prst="ellipse">
            <a:avLst/>
          </a:prstGeom>
          <a:solidFill>
            <a:srgbClr val="5FD0C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37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3282696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Crossplane when building an internal developer platform that needs continuous reconciliation and GitOps-native workflows.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297680"/>
            <a:ext cx="365760" cy="365760"/>
          </a:xfrm>
          <a:prstGeom prst="ellipse">
            <a:avLst/>
          </a:prstGeom>
          <a:solidFill>
            <a:srgbClr val="5FD0C0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297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51560" y="4242816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enterprise pattern combines both: foundational IaC underneath, Crossplane as the developer-facing layer on top.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5669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Crossplane in the Modern Enterprise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Yet Another IaaC Tool You Did Not Know You Need</dc:title>
  <dc:subject>PptxGenJS Presentation</dc:subject>
  <dc:creator>Gregory Suvalian</dc:creator>
  <cp:lastModifiedBy>Gregory Suvalian</cp:lastModifiedBy>
  <cp:revision>1</cp:revision>
  <dcterms:created xsi:type="dcterms:W3CDTF">2026-08-22T19:31:48Z</dcterms:created>
  <dcterms:modified xsi:type="dcterms:W3CDTF">2026-08-22T19:31:48Z</dcterms:modified>
</cp:coreProperties>
</file>