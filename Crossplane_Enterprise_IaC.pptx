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914400"/>
            <a:ext cx="3931920" cy="3931920"/>
          </a:xfrm>
          <a:prstGeom prst="roundRect">
            <a:avLst>
              <a:gd name="adj" fmla="val 8140"/>
            </a:avLst>
          </a:prstGeom>
          <a:solidFill>
            <a:srgbClr val="0F2A4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371600"/>
            <a:ext cx="3017520" cy="3017520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19050">
            <a:solidFill>
              <a:srgbClr val="5FD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1828800"/>
            <a:ext cx="2103120" cy="2103120"/>
          </a:xfrm>
          <a:prstGeom prst="roundRect">
            <a:avLst>
              <a:gd name="adj" fmla="val 10870"/>
            </a:avLst>
          </a:prstGeom>
          <a:solidFill>
            <a:srgbClr val="0B1E3D"/>
          </a:solidFill>
          <a:ln w="25400">
            <a:solidFill>
              <a:srgbClr val="5FD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18288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CROSSPLANE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Another IaaC Tool You Did Not Know You Need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31089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with Terraform and cloud-native frameworks (Bicep / ARM) — featuring Crossplane v2's namespaced resource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120640"/>
            <a:ext cx="2194560" cy="0"/>
          </a:xfrm>
          <a:prstGeom prst="line">
            <a:avLst/>
          </a:prstGeom>
          <a:noFill/>
          <a:ln w="25400">
            <a:solidFill>
              <a:srgbClr val="5FD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 Suvalian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12848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Platform &amp; Infrastructure Engineering</a:t>
            </a:r>
            <a:endParaRPr lang="en-US" sz="1300" dirty="0"/>
          </a:p>
        </p:txBody>
      </p:sp>
      <p:pic>
        <p:nvPicPr>
          <p:cNvPr id="12" name="Image 0" descr="icons/face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06440"/>
            <a:ext cx="292608" cy="292608"/>
          </a:xfrm>
          <a:prstGeom prst="rect">
            <a:avLst/>
          </a:prstGeom>
        </p:spPr>
      </p:pic>
      <p:pic>
        <p:nvPicPr>
          <p:cNvPr id="13" name="Image 1" descr="icons/twi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5806440"/>
            <a:ext cx="292608" cy="292608"/>
          </a:xfrm>
          <a:prstGeom prst="rect">
            <a:avLst/>
          </a:prstGeom>
        </p:spPr>
      </p:pic>
      <p:pic>
        <p:nvPicPr>
          <p:cNvPr id="14" name="Image 2" descr="icons/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5806440"/>
            <a:ext cx="292608" cy="292608"/>
          </a:xfrm>
          <a:prstGeom prst="rect">
            <a:avLst/>
          </a:prstGeom>
        </p:spPr>
      </p:pic>
      <p:pic>
        <p:nvPicPr>
          <p:cNvPr id="15" name="Image 3" descr="icons/tele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80644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32304" y="5760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@artisticcheese</a:t>
            </a:r>
            <a:endParaRPr lang="en-US" sz="1300" dirty="0"/>
          </a:p>
        </p:txBody>
      </p:sp>
      <p:pic>
        <p:nvPicPr>
          <p:cNvPr id="17" name="Image 4" descr="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04" y="580644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53128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artisticcheese@gmail.com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235440" y="4892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235440" y="49651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repo</a:t>
            </a:r>
            <a:endParaRPr lang="en-US" sz="850" dirty="0"/>
          </a:p>
        </p:txBody>
      </p:sp>
      <p:pic>
        <p:nvPicPr>
          <p:cNvPr id="21" name="Image 5" descr="icons/qr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5212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716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Crossplane?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as a universal control plane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677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267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Compositions &amp; Namespaced XRs (v2)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1638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3163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adopt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483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&amp; self-service IaC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599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4059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Bicep/ARM &amp; Crossplane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3799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IaC landscape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2801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3716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06640" y="1371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when to use which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1691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and decision guide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176272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22677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06640" y="2267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onboard Azure, deploy real 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072384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29400" y="31638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06640" y="3163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patterns &amp; recommendations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3483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tool wins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Crossplane?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CNCF-graduated framework that turns Kubernetes into a universal control plane for cloud infrastructure.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0370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K8s API with Custom Resources for cloud infrastructure (VMs, databases, networks) instead of application workloads.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ecosystem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22783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for AWS, Azure, GCP, and 100+ services plug into the same control plane and reconciliation model.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227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control-loop model actively drives infrastructure toward desired state — not a one-shot apply.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74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9469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APIs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27608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build custom, higher-level APIs (Compositions) that hide cloud complexity from developers.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35240" y="187452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0B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Control-Plane Stack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09560" y="260604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5FD0C0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679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/ Namespaced XRs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342900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3502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2440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Platform-defined APIs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09560" y="425196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3E6B99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4325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2440" y="4636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09560" y="507492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274972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92440" y="5458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DB, IAM, Storage…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Crossplane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turn raw cloud APIs into self-service platform APIs.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 w="19050">
            <a:solidFill>
              <a:srgbClr val="5FD0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cloud APIs (AWS, Azure, GCP) as CRDs into the cluster. Each managed resource maps 1:1 to a real cloud object.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02152" y="18288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0752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Resources (MRs)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30752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lowest-level CRDs — e.g. a single S3 bucket or Azure SQL DB — reconciled continuously against the live cloud state.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9632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55664" y="18288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 w="19050">
            <a:solidFill>
              <a:srgbClr val="3E6B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6B99"/>
          </a:solidFill>
          <a:ln/>
        </p:spPr>
      </p:sp>
      <p:sp>
        <p:nvSpPr>
          <p:cNvPr id="18" name="Text 16"/>
          <p:cNvSpPr/>
          <p:nvPr/>
        </p:nvSpPr>
        <p:spPr>
          <a:xfrm>
            <a:off x="668426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84264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Compositions (XRDs)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84264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author reusable templates that combine many MRs into one opinionated, higher-level API.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09176" y="18288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7776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24" name="Text 22"/>
          <p:cNvSpPr/>
          <p:nvPr/>
        </p:nvSpPr>
        <p:spPr>
          <a:xfrm>
            <a:off x="963777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37776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XRs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37776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request infrastructure directly by creating a namespaced Composite Resource — e.g. “give me a production database” — without touching cloud detail.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49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v2: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5349240"/>
            <a:ext cx="9006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Resources can now be namespaced and requested directly — the separate Claim object from v1 is no longer needed.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Enterprises Are Adopting Crossplane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214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Golden-path APIs let app teams self-serve infra without becoming cloud experts.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2856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FD0C0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2856" y="21214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GitOps-native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62856" y="24688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a Kubernetes object — it fits directly into Flux / Argo CD pipelines already used for apps.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74736" y="13716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B99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5904" y="21214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consistency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5904" y="24688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 and one API surface across AWS, Azure, GCP, and on-prem.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511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7FA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40599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correction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4074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 actively repairs infrastructure drift, not just detects it on the next run.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33101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62856" y="3511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A6C9"/>
          </a:solidFill>
          <a:ln/>
        </p:spPr>
      </p:sp>
      <p:sp>
        <p:nvSpPr>
          <p:cNvPr id="25" name="Text 23"/>
          <p:cNvSpPr/>
          <p:nvPr/>
        </p:nvSpPr>
        <p:spPr>
          <a:xfrm>
            <a:off x="4562856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2856" y="40599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state backend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62856" y="44074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as etcd objects in the cluster already run for workloads — no separate state store to secure.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74736" y="33101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5904" y="3511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75904" y="40599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at the API layer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75904" y="44074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RBAC, admission control, and OPA/Kyverno apply to infra the same way they do to apps.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IaC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three operating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434840"/>
          </a:xfrm>
          <a:prstGeom prst="roundRect">
            <a:avLst>
              <a:gd name="adj" fmla="val 3133"/>
            </a:avLst>
          </a:prstGeom>
          <a:solidFill>
            <a:srgbClr val="13294B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4767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IaC via a purpose-built DSL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3364992"/>
            <a:ext cx="82296" cy="82296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32918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/ run model — plan &amp; apply on demand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4187952"/>
            <a:ext cx="82296" cy="82296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4114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stored in a .tfstate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5010912"/>
            <a:ext cx="82296" cy="82296"/>
          </a:xfrm>
          <a:prstGeom prst="ellipse">
            <a:avLst/>
          </a:prstGeom>
          <a:solidFill>
            <a:srgbClr val="5B7F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49377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ecosystem covers 3,000+ 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502152" cy="4434840"/>
          </a:xfrm>
          <a:prstGeom prst="roundRect">
            <a:avLst>
              <a:gd name="adj" fmla="val 3133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94767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Bicep / ARM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81144" y="242316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IaC, first-party tooling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81144" y="33649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32918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deployment via the Azure RM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81144" y="41879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4114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tracked by Azure itself — no state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81144" y="50109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49377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compiles 1:1 to ARM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1691640"/>
            <a:ext cx="3502152" cy="4434840"/>
          </a:xfrm>
          <a:prstGeom prst="roundRect">
            <a:avLst>
              <a:gd name="adj" fmla="val 3133"/>
            </a:avLst>
          </a:prstGeom>
          <a:solidFill>
            <a:srgbClr val="13294B"/>
          </a:solidFill>
          <a:ln w="19050">
            <a:solidFill>
              <a:srgbClr val="5FD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7616" y="194767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Crossplane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57616" y="242316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as a universal control plane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57616" y="3364992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26" name="Text 24"/>
          <p:cNvSpPr/>
          <p:nvPr/>
        </p:nvSpPr>
        <p:spPr>
          <a:xfrm>
            <a:off x="8586216" y="32918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control-loop — continuous reconciliation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57616" y="4187952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28" name="Text 26"/>
          <p:cNvSpPr/>
          <p:nvPr/>
        </p:nvSpPr>
        <p:spPr>
          <a:xfrm>
            <a:off x="8586216" y="411480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namespaced XRs, requested directly — no Claims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57616" y="5010912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30" name="Text 28"/>
          <p:cNvSpPr/>
          <p:nvPr/>
        </p:nvSpPr>
        <p:spPr>
          <a:xfrm>
            <a:off x="8586216" y="49377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providers + custom Compositions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vs. Bicep/ARM vs. Crossplane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solidFill>
            <a:srgbClr val="0B1E3D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258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53512" y="13258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79592" y="13258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/ ARM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05672" y="13258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745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scope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2953512" y="18745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(3,000+ providers)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5879592" y="18745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only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8805672" y="18745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(AWS/Azure/GCP)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231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2953512" y="24231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apply (CLI or CI)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5879592" y="24231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ARM deployment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805672" y="24231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 loop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1106424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9718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2953512" y="29718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state file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5879592" y="29718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Azure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805672" y="29718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 objects (etcd)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5204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handling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2953512" y="352044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next plan/apply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5879592" y="352044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what-if &amp; re-deploy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8805672" y="352044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self-heals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0690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2953512" y="40690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5879592" y="40690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DSL / ARM JSON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805672" y="40690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YAML/CRDs + Compositions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617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abstraction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2953512" y="46177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5879592" y="46177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(reusable Bicep files)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8805672" y="461772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Compositions + Namespaced XRs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51663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devs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2953512" y="51663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TF knowledge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5879592" y="51663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Azure/Bicep knowledge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8805672" y="516636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namespaced XRs, RBAC-scoped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57150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maturity</a:t>
            </a:r>
            <a:endParaRPr lang="en-US" sz="970" dirty="0"/>
          </a:p>
        </p:txBody>
      </p:sp>
      <p:sp>
        <p:nvSpPr>
          <p:cNvPr id="46" name="Text 44"/>
          <p:cNvSpPr/>
          <p:nvPr/>
        </p:nvSpPr>
        <p:spPr>
          <a:xfrm>
            <a:off x="2953512" y="57150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mature (10+ yrs)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5879592" y="57150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Azure-native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8805672" y="571500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 (CNCF, 2024)</a:t>
            </a:r>
            <a:endParaRPr lang="en-US" sz="97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Tool, and When?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4480560"/>
          </a:xfrm>
          <a:prstGeom prst="roundRect">
            <a:avLst>
              <a:gd name="adj" fmla="val 3133"/>
            </a:avLst>
          </a:prstGeom>
          <a:solidFill>
            <a:srgbClr val="EAF1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Terraform when…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238658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Day-0 bootstrap of foundational infra (networks, accounts, org structure)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4712" y="348386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widest possible provider coverage, incl. SaaS &amp; niche APIs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46177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458114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changes are infrequent, reviewed via a human-gated pipeline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25112" y="1371600"/>
            <a:ext cx="3502152" cy="4480560"/>
          </a:xfrm>
          <a:prstGeom prst="roundRect">
            <a:avLst>
              <a:gd name="adj" fmla="val 3133"/>
            </a:avLst>
          </a:prstGeom>
          <a:solidFill>
            <a:srgbClr val="EAF1EF"/>
          </a:solidFill>
          <a:ln w="19050">
            <a:solidFill>
              <a:srgbClr val="3E6B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60020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Bicep/ARM when…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53712" y="24231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E6B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238658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an Azure-only shop wanting first-party, fully-supported tooling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520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E6B99"/>
          </a:solidFill>
          <a:ln/>
        </p:spPr>
      </p:sp>
      <p:sp>
        <p:nvSpPr>
          <p:cNvPr id="20" name="Text 18"/>
          <p:cNvSpPr/>
          <p:nvPr/>
        </p:nvSpPr>
        <p:spPr>
          <a:xfrm>
            <a:off x="4553712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01184" y="348386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deep integration with Azure Policy, Blueprints &amp; RBAC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3712" y="46177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E6B99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1184" y="458114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rather not manage a separate state backend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1371600"/>
            <a:ext cx="3502152" cy="4480560"/>
          </a:xfrm>
          <a:prstGeom prst="roundRect">
            <a:avLst>
              <a:gd name="adj" fmla="val 3133"/>
            </a:avLst>
          </a:prstGeom>
          <a:solidFill>
            <a:srgbClr val="E9F9F5"/>
          </a:solidFill>
          <a:ln w="19050">
            <a:solidFill>
              <a:srgbClr val="0E8C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160020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Crossplane when…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30184" y="24231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C74"/>
          </a:solidFill>
          <a:ln/>
        </p:spPr>
      </p:sp>
      <p:sp>
        <p:nvSpPr>
          <p:cNvPr id="28" name="Text 26"/>
          <p:cNvSpPr/>
          <p:nvPr/>
        </p:nvSpPr>
        <p:spPr>
          <a:xfrm>
            <a:off x="8330184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77656" y="238658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 self-service internal developer platform (IDP)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0184" y="3520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C74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77656" y="348386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infra managed alongside Kubernetes workloads (GitOps)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30184" y="46177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C74"/>
          </a:solidFill>
          <a:ln/>
        </p:spPr>
      </p:sp>
      <p:sp>
        <p:nvSpPr>
          <p:cNvPr id="34" name="Text 32"/>
          <p:cNvSpPr/>
          <p:nvPr/>
        </p:nvSpPr>
        <p:spPr>
          <a:xfrm>
            <a:off x="8330184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77656" y="4581144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continuous drift correction without a scheduled job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Three-Way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Bicep/ARM · Crossplane, scored across what enterprises actually care about.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reach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0" y="190195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90195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059680" y="190195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8" name="Shape 6"/>
          <p:cNvSpPr/>
          <p:nvPr/>
        </p:nvSpPr>
        <p:spPr>
          <a:xfrm>
            <a:off x="5059680" y="1901952"/>
            <a:ext cx="262128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9" name="Shape 7"/>
          <p:cNvSpPr/>
          <p:nvPr/>
        </p:nvSpPr>
        <p:spPr>
          <a:xfrm>
            <a:off x="6644640" y="190195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6644640" y="1901952"/>
            <a:ext cx="1048512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957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468880"/>
            <a:ext cx="26212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59680" y="2468880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9680" y="2468880"/>
            <a:ext cx="524256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4640" y="2468880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4640" y="2468880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6265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self-service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035808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3035808"/>
            <a:ext cx="524256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59680" y="3035808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9680" y="3035808"/>
            <a:ext cx="524256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644640" y="3035808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6644640" y="3035808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95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maturity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602736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0" y="3602736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059680" y="3602736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5059680" y="3602736"/>
            <a:ext cx="1048512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30" name="Shape 28"/>
          <p:cNvSpPr/>
          <p:nvPr/>
        </p:nvSpPr>
        <p:spPr>
          <a:xfrm>
            <a:off x="6644640" y="3602736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6644640" y="3602736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9651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/ GitOps fit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4169664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0" y="4169664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5059680" y="4169664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36" name="Shape 34"/>
          <p:cNvSpPr/>
          <p:nvPr/>
        </p:nvSpPr>
        <p:spPr>
          <a:xfrm>
            <a:off x="5059680" y="4169664"/>
            <a:ext cx="524256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37" name="Shape 35"/>
          <p:cNvSpPr/>
          <p:nvPr/>
        </p:nvSpPr>
        <p:spPr>
          <a:xfrm>
            <a:off x="6644640" y="4169664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38" name="Shape 36"/>
          <p:cNvSpPr/>
          <p:nvPr/>
        </p:nvSpPr>
        <p:spPr>
          <a:xfrm>
            <a:off x="6644640" y="4169664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6634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(lower=easier)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473659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0" y="4736592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5059680" y="473659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43" name="Shape 41"/>
          <p:cNvSpPr/>
          <p:nvPr/>
        </p:nvSpPr>
        <p:spPr>
          <a:xfrm>
            <a:off x="5059680" y="4736592"/>
            <a:ext cx="1048512" cy="201168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44" name="Shape 42"/>
          <p:cNvSpPr/>
          <p:nvPr/>
        </p:nvSpPr>
        <p:spPr>
          <a:xfrm>
            <a:off x="6644640" y="4736592"/>
            <a:ext cx="13106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</p:sp>
      <p:sp>
        <p:nvSpPr>
          <p:cNvPr id="45" name="Shape 43"/>
          <p:cNvSpPr/>
          <p:nvPr/>
        </p:nvSpPr>
        <p:spPr>
          <a:xfrm>
            <a:off x="6644640" y="4736592"/>
            <a:ext cx="524256" cy="201168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46" name="Shape 44"/>
          <p:cNvSpPr/>
          <p:nvPr/>
        </p:nvSpPr>
        <p:spPr>
          <a:xfrm>
            <a:off x="3474720" y="14447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3694176" y="1408176"/>
            <a:ext cx="131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59680" y="14447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B7FA6"/>
          </a:solidFill>
          <a:ln/>
        </p:spPr>
      </p:sp>
      <p:sp>
        <p:nvSpPr>
          <p:cNvPr id="49" name="Text 47"/>
          <p:cNvSpPr/>
          <p:nvPr/>
        </p:nvSpPr>
        <p:spPr>
          <a:xfrm>
            <a:off x="5279136" y="1408176"/>
            <a:ext cx="131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Bicep/ARM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44640" y="14447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FD0C0"/>
          </a:solidFill>
          <a:ln/>
        </p:spPr>
      </p:sp>
      <p:sp>
        <p:nvSpPr>
          <p:cNvPr id="51" name="Text 49"/>
          <p:cNvSpPr/>
          <p:nvPr/>
        </p:nvSpPr>
        <p:spPr>
          <a:xfrm>
            <a:off x="6864096" y="1408176"/>
            <a:ext cx="131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Installing Crossplane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Helm install brings up the control plane inside any Kubernetes cluster.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807208"/>
          </a:xfrm>
          <a:prstGeom prst="roundRect">
            <a:avLst>
              <a:gd name="adj" fmla="val 2606"/>
            </a:avLst>
          </a:prstGeom>
          <a:solidFill>
            <a:srgbClr val="0A183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1907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2996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the Crossplane Helm repo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24485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add crossplane-stable \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5973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https://charts.crossplane.io/stable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67462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repo update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88950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10438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into its own namespace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31927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crossplane \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53415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crossplane-stable/crossplane \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74904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--namespace crossplane-system \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96392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--create-namespace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94960" cy="1732788"/>
          </a:xfrm>
          <a:prstGeom prst="roundRect">
            <a:avLst>
              <a:gd name="adj" fmla="val 4222"/>
            </a:avLst>
          </a:prstGeom>
          <a:solidFill>
            <a:srgbClr val="0A1830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71907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19088" y="202996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crossplane-system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224485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9088" y="245973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           READY  STATUS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267462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crossplane-7d9f6c9b5c-x2k9p    1/1   Running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88950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crossplane-rbac-manager-8f6d7  1/1   Running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90288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 w="12700">
            <a:solidFill>
              <a:srgbClr val="3E6B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7548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core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" y="51389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XRD &amp; Composition controllers that power every custom API.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5112" y="4590288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 w="12700">
            <a:solidFill>
              <a:srgbClr val="3E6B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7548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Manager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51389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Auto-provisions the namespaced permissions each new API needs.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4590288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 w="12700">
            <a:solidFill>
              <a:srgbClr val="3E6B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47548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02752" y="51389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and upgrades Providers and Functions as cluster packages.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Onboarding the Azure Provider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v2 splits Azure support into per-service providers, installed as cluster packages.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A183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7335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pkg.crossplane.io/v1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19913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Provider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1401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62890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provider-azure-storage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84378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5866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package: &gt;-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27355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xpkg.upbound.io/upbound/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48843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provider-azure-storage:v1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394960" cy="3022092"/>
          </a:xfrm>
          <a:prstGeom prst="roundRect">
            <a:avLst>
              <a:gd name="adj" fmla="val 2421"/>
            </a:avLst>
          </a:prstGeom>
          <a:solidFill>
            <a:srgbClr val="0A1830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67335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providerconfig.yaml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19088" y="198424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azure.upbound.io/v1beta1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219913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ProviderConfig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241401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262890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9088" y="284378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305866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3273552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Secret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19088" y="3488436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secretRef: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19088" y="3703320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namespace: crossplane-system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3918204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azure-creds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9088" y="4133088"/>
            <a:ext cx="49926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creds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623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56235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removes the need for a long-lived Service Principal secret entirely when running in AKS.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Your First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namespaced Managed Resource, applied directly — no Claim required (v2).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4690872"/>
          </a:xfrm>
          <a:prstGeom prst="roundRect">
            <a:avLst>
              <a:gd name="adj" fmla="val 1559"/>
            </a:avLst>
          </a:prstGeom>
          <a:solidFill>
            <a:srgbClr val="0A1830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73352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azure.upbound.io/v1beta1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176272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ResourceGroup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368296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60320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demo-rg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752344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team-a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944368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136392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forProvider: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328416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location: westeurope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520440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712464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storage.azure.upbound.io/v1beta1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904488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Account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4096512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4288536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demosa001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4480560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team-a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4672584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4864608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forProvider: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5056632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location: westeurope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248656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accountTier: Standard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" y="5440680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accountReplicationType: LRS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5632704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resourceGroupNameSelector: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5824728"/>
            <a:ext cx="5724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matchControllerRef: true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0" y="150876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namespace: team-a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20574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3E6B9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ResourceGroup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149840" y="20574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5FD0C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9840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239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040880" y="3063240"/>
            <a:ext cx="4480560" cy="822960"/>
          </a:xfrm>
          <a:prstGeom prst="roundRect">
            <a:avLst>
              <a:gd name="adj" fmla="val 11111"/>
            </a:avLst>
          </a:prstGeom>
          <a:solidFill>
            <a:srgbClr val="0B1E3D"/>
          </a:solidFill>
          <a:ln w="19050">
            <a:solidFill>
              <a:srgbClr val="5FD0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040880" y="416052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 w="12700">
            <a:solidFill>
              <a:srgbClr val="3E6B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like any other Kubernetes object: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6948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resources.yaml -n team-a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69480" y="5029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reconciles both objects continuously — delete either and it's recreated to match spec.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A More Involved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namespaced XR, one Composition Function pipeline — wiring 6 resources (VNet, Subnet, Storage, Private DNS Zone &amp; Endpoint) into a single apply.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400800" cy="4590288"/>
          </a:xfrm>
          <a:prstGeom prst="roundRect">
            <a:avLst>
              <a:gd name="adj" fmla="val 1594"/>
            </a:avLst>
          </a:prstGeom>
          <a:solidFill>
            <a:srgbClr val="0A1830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99032"/>
            <a:ext cx="599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70992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apiextensions.crossplane.io/v1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Composition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03911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20370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private-storage-azure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36829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253288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compositeTypeRef: {kind: XPrivateStorage}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69748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mode: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302666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step: compose-resources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319125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functionRef: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35584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function-patch-and-transform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352044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68503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kind: Resources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84962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resources: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name: vnet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417880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base: {kind: VirtualNetwork}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434340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name: subnet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450799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base: {kind: Subnet, spec: {forProvider: {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67258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virtualNetworkNameSelector: {matchControllerRef: true}}}}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483717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name: endpoint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500176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base: {kind: PrivateEndpoint, spec: {forProvider: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516636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subnetIdSelector: {matchControllerRef: true}}}}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533095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storage, dnsZone, vnetLink, zoneGroup: same pattern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549554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step: auto-ready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566013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functionRef: {name: function-auto-ready}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1325880"/>
            <a:ext cx="4416552" cy="1865376"/>
          </a:xfrm>
          <a:prstGeom prst="roundRect">
            <a:avLst>
              <a:gd name="adj" fmla="val 3922"/>
            </a:avLst>
          </a:prstGeom>
          <a:solidFill>
            <a:srgbClr val="0A183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24928" y="145389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by the developer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24928" y="176479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mycompany.com/v1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24928" y="194767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XPrivateStorage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24928" y="213055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24928" y="231343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team-a-storage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24928" y="249631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team-a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24928" y="267919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24928" y="2862072"/>
            <a:ext cx="4014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westeurope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23760" y="3419856"/>
            <a:ext cx="4416552" cy="2843784"/>
          </a:xfrm>
          <a:prstGeom prst="roundRect">
            <a:avLst>
              <a:gd name="adj" fmla="val 3215"/>
            </a:avLst>
          </a:prstGeom>
          <a:solidFill>
            <a:srgbClr val="13294B"/>
          </a:solidFill>
          <a:ln w="12700">
            <a:solidFill>
              <a:srgbClr val="3E6B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602736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decide WHAT gets created.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decide HOW they connect.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52360" y="4197096"/>
            <a:ext cx="39593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pipeline's function-patch-and-transform step decides which 6 resources to compose from one XR. Each resource still resolves its own dependency — via the same matchControllerRef selectors as Demo 1 — regardless of whether it was applied directly or composed by a Function.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XRs &amp; XRDs?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applied Managed Resources directly. Demo 2 went through an XR — here's what that abstraction buys you.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3500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ask for “a private storage stack,” not 7 Azure resources wired the right way.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FD0C0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3500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wiring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2856" y="26974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team owns every selector and dependency; consumers can't misconfigure them.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74736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B99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3500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one lifecycle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75904" y="2697480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XR is the single source of truth — delete it and everything underneath goes with 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39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7FA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42885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teams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6360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Composition serves every namespace that creates an XPrivateStorage.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61688" y="35387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739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A6C9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2856" y="42885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Upgradeable independently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62856" y="46360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Composition's implementation (a new Function, a new resource) — consumer YAML never changes.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74736" y="3538728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3739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8C74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75904" y="428853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in v2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75904" y="463600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get their own XR instances, scoped and RBAC'd like any other namespaced object — no Claim needed.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Enterprise Adoption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run these tools together, not instead of one another.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5B7FA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22860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infra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Bicep provisions accounts, networks, IAM, and the Kubernetes clusters themselves.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9164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965960"/>
            <a:ext cx="35204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is installed onto those clusters; platform teams author Compositions exposing golden-path APIs.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69164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5FD0C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965960"/>
            <a:ext cx="3520440" cy="22860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self-service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submit namespaced XRs directly via GitOps; infra scales with the app lifecycle, drift self-heals.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20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48840" y="5120640"/>
            <a:ext cx="9189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doesn't replace Terraform or Bicep at Day 0 — it typically sits on top, turning what they provisioned into self-service platform APIs.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28016" cy="777240"/>
          </a:xfrm>
          <a:prstGeom prst="roundRect">
            <a:avLst/>
          </a:prstGeom>
          <a:solidFill>
            <a:srgbClr val="C97A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44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46320" y="14447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running &amp; maintaining a Kubernetes cluster as critical infrastructure — not a trivial dependency to add.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28016" cy="777240"/>
          </a:xfrm>
          <a:prstGeom prst="roundRect">
            <a:avLst/>
          </a:prstGeom>
          <a:solidFill>
            <a:srgbClr val="C97A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maturity gap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46320" y="23591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providers and less community content than Terraform's decade-long head start; some APIs lag behind cloud releases.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28016" cy="777240"/>
          </a:xfrm>
          <a:prstGeom prst="roundRect">
            <a:avLst/>
          </a:prstGeom>
          <a:solidFill>
            <a:srgbClr val="C97A3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32735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must think in Kubernetes reconciliation and CRDs, a mental model unfamiliar to traditional infra engineers.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28016" cy="777240"/>
          </a:xfrm>
          <a:prstGeom prst="roundRect">
            <a:avLst/>
          </a:prstGeom>
          <a:solidFill>
            <a:srgbClr val="C97A3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complexity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41879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Compositions (functions, patch-and-transform) can become as intricate as the Terraform modules they replace.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28016" cy="777240"/>
          </a:xfrm>
          <a:prstGeom prst="roundRect">
            <a:avLst/>
          </a:prstGeom>
          <a:solidFill>
            <a:srgbClr val="C97A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debugging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51023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spans kubectl, controller logs, and cloud consoles — less mature UX than `terraform plan` diffs.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97280"/>
            <a:ext cx="3749040" cy="3749040"/>
          </a:xfrm>
          <a:prstGeom prst="roundRect">
            <a:avLst>
              <a:gd name="adj" fmla="val 8537"/>
            </a:avLst>
          </a:prstGeom>
          <a:solidFill>
            <a:srgbClr val="0F2A4A"/>
          </a:solidFill>
          <a:ln w="19050">
            <a:solidFill>
              <a:srgbClr val="5FD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09728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6245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isn't a Terraform or Bicep replacement — it's a platform layer that turns provisioned infra into self-service, Kubernetes-native APIs.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32257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Terraform / Bicep for broad, one-shot, human-gated provisioning — especially Day-0 foundational infra.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2826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Crossplane when building an internal developer platform that needs continuous reconciliation and GitOps-native workflows.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24281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enterprise pattern combines both: foundational IaC underneath, Crossplane as the developer-facing layer on top.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in the Modern 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Yet Another IaaC Tool You Did Not Know You Need</dc:title>
  <dc:subject>PptxGenJS Presentation</dc:subject>
  <dc:creator>Gregory Suvalian</dc:creator>
  <cp:lastModifiedBy>Gregory Suvalian</cp:lastModifiedBy>
  <cp:revision>1</cp:revision>
  <dcterms:created xsi:type="dcterms:W3CDTF">2026-08-22T23:21:41Z</dcterms:created>
  <dcterms:modified xsi:type="dcterms:W3CDTF">2026-08-22T23:21:41Z</dcterms:modified>
</cp:coreProperties>
</file>